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3"/>
    <p:sldMasterId id="214748367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Roboto"/>
      <p:regular r:id="rId17"/>
      <p:bold r:id="rId18"/>
      <p:italic r:id="rId19"/>
      <p:boldItalic r:id="rId20"/>
    </p:embeddedFont>
    <p:embeddedFont>
      <p:font typeface="Cambria Math"/>
      <p:regular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font" Target="fonts/CambriaMath-regular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Roboto-regular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Roboto-italic.fntdata"/><Relationship Id="rId6" Type="http://schemas.openxmlformats.org/officeDocument/2006/relationships/slide" Target="slides/slide1.xml"/><Relationship Id="rId18" Type="http://schemas.openxmlformats.org/officeDocument/2006/relationships/font" Target="fonts/Robot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ecf1bc0f6b_1_57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" name="Google Shape;121;g3ecf1bc0f6b_1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ef00f64e94_2_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" name="Google Shape;127;g3ef00f64e94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ecf1bc0f6b_1_6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" name="Google Shape;133;g3ecf1bc0f6b_1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ece1b799cb_0_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5" name="Google Shape;165;g3ece1b799c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ebe5f4838e_0_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3" name="Google Shape;193;g3ebe5f4838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ebe5f4838e_0_89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9" name="Google Shape;199;g3ebe5f4838e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ebe5f4838e_0_157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6" name="Google Shape;246;g3ebe5f4838e_0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ebe5f4838e_0_219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2" name="Google Shape;252;g3ebe5f4838e_0_2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ebe5f4838e_0_146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9" name="Google Shape;259;g3ebe5f4838e_0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ebe5f4838e_0_28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5" name="Google Shape;265;g3ebe5f4838e_0_2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ecf1bc0f6b_1_8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1" name="Google Shape;271;g3ecf1bc0f6b_1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- R01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fmla="val 16667" name="adj"/>
            </a:avLst>
          </a:prstGeom>
          <a:solidFill>
            <a:schemeClr val="lt1">
              <a:alpha val="6808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- R01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R01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/>
        </p:nvSpPr>
        <p:spPr>
          <a:xfrm flipH="1" rot="10800000">
            <a:off x="0" y="728400"/>
            <a:ext cx="9144000" cy="40854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4"/>
          <p:cNvSpPr/>
          <p:nvPr/>
        </p:nvSpPr>
        <p:spPr>
          <a:xfrm>
            <a:off x="0" y="711888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4"/>
          <p:cNvSpPr txBox="1"/>
          <p:nvPr>
            <p:ph type="title"/>
          </p:nvPr>
        </p:nvSpPr>
        <p:spPr>
          <a:xfrm>
            <a:off x="471900" y="57875"/>
            <a:ext cx="8222100" cy="670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" type="body"/>
          </p:nvPr>
        </p:nvSpPr>
        <p:spPr>
          <a:xfrm>
            <a:off x="471900" y="820500"/>
            <a:ext cx="8222100" cy="390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68300" lvl="0" marL="4572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Char char="●"/>
              <a:defRPr sz="2200">
                <a:solidFill>
                  <a:srgbClr val="000000"/>
                </a:solidFill>
              </a:defRPr>
            </a:lvl1pPr>
            <a:lvl2pPr indent="-355600" lvl="1" marL="91440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000"/>
              <a:buChar char="○"/>
              <a:defRPr sz="2000">
                <a:solidFill>
                  <a:srgbClr val="000000"/>
                </a:solidFill>
              </a:defRPr>
            </a:lvl2pPr>
            <a:lvl3pPr indent="-342900" lvl="2" marL="137160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■"/>
              <a:defRPr sz="1800">
                <a:solidFill>
                  <a:srgbClr val="000000"/>
                </a:solidFill>
              </a:defRPr>
            </a:lvl3pPr>
            <a:lvl4pPr indent="-330200" lvl="3" marL="182880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sz="1600">
                <a:solidFill>
                  <a:srgbClr val="000000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>
                <a:solidFill>
                  <a:srgbClr val="000000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2" type="sldNum"/>
          </p:nvPr>
        </p:nvSpPr>
        <p:spPr>
          <a:xfrm>
            <a:off x="8523550" y="4813799"/>
            <a:ext cx="548700" cy="27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" name="Google Shape;22;p4"/>
          <p:cNvSpPr txBox="1"/>
          <p:nvPr/>
        </p:nvSpPr>
        <p:spPr>
          <a:xfrm>
            <a:off x="471900" y="4803525"/>
            <a:ext cx="8133300" cy="29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UIT.CS2205.ResearchMethodology</a:t>
            </a:r>
            <a:endParaRPr b="1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5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/>
          <p:nvPr/>
        </p:nvSpPr>
        <p:spPr>
          <a:xfrm flipH="1" rot="10800000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6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6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4" name="Google Shape;34;p6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7"/>
          <p:cNvSpPr txBox="1"/>
          <p:nvPr/>
        </p:nvSpPr>
        <p:spPr>
          <a:xfrm flipH="1" rot="10800000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7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9" name="Google Shape;39;p7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0" name="Google Shape;40;p7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43" name="Google Shape;43;p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9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8" name="Google Shape;48;p9"/>
          <p:cNvSpPr txBox="1"/>
          <p:nvPr>
            <p:ph idx="1" type="subTitle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9" name="Google Shape;4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0" name="Google Shape;50;p9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0"/>
          <p:cNvSpPr txBox="1"/>
          <p:nvPr/>
        </p:nvSpPr>
        <p:spPr>
          <a:xfrm flipH="1" rot="10800000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10"/>
          <p:cNvSpPr/>
          <p:nvPr/>
        </p:nvSpPr>
        <p:spPr>
          <a:xfrm flipH="1" rot="10800000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0"/>
          <p:cNvSpPr txBox="1"/>
          <p:nvPr>
            <p:ph idx="1" type="body"/>
          </p:nvPr>
        </p:nvSpPr>
        <p:spPr>
          <a:xfrm>
            <a:off x="57150" y="4163425"/>
            <a:ext cx="8382000" cy="44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55" name="Google Shape;55;p10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4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1"/>
          <p:cNvSpPr txBox="1"/>
          <p:nvPr>
            <p:ph hasCustomPrompt="1" type="title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8" name="Google Shape;58;p11"/>
          <p:cNvSpPr txBox="1"/>
          <p:nvPr>
            <p:ph idx="1" type="body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9" name="Google Shape;59;p1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4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- R01" type="secHead">
  <p:cSld name="SECTION_HEADER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4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R01" type="tx">
  <p:cSld name="TITLE_AND_BODY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/>
          <p:nvPr/>
        </p:nvSpPr>
        <p:spPr>
          <a:xfrm flipH="1" rot="10800000">
            <a:off x="0" y="728400"/>
            <a:ext cx="9144000" cy="40854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5"/>
          <p:cNvSpPr/>
          <p:nvPr/>
        </p:nvSpPr>
        <p:spPr>
          <a:xfrm>
            <a:off x="0" y="711888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15"/>
          <p:cNvSpPr txBox="1"/>
          <p:nvPr>
            <p:ph type="title"/>
          </p:nvPr>
        </p:nvSpPr>
        <p:spPr>
          <a:xfrm>
            <a:off x="471900" y="57875"/>
            <a:ext cx="8222100" cy="670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72" name="Google Shape;72;p15"/>
          <p:cNvSpPr txBox="1"/>
          <p:nvPr>
            <p:ph idx="1" type="body"/>
          </p:nvPr>
        </p:nvSpPr>
        <p:spPr>
          <a:xfrm>
            <a:off x="471900" y="820500"/>
            <a:ext cx="8222100" cy="39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683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Char char="●"/>
              <a:defRPr sz="2200">
                <a:solidFill>
                  <a:srgbClr val="000000"/>
                </a:solidFill>
              </a:defRPr>
            </a:lvl1pPr>
            <a:lvl2pPr indent="-3556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000"/>
              <a:buChar char="○"/>
              <a:defRPr sz="2000">
                <a:solidFill>
                  <a:srgbClr val="000000"/>
                </a:solidFill>
              </a:defRPr>
            </a:lvl2pPr>
            <a:lvl3pPr indent="-3429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■"/>
              <a:defRPr sz="1800">
                <a:solidFill>
                  <a:srgbClr val="000000"/>
                </a:solidFill>
              </a:defRPr>
            </a:lvl3pPr>
            <a:lvl4pPr indent="-3302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sz="1600">
                <a:solidFill>
                  <a:srgbClr val="000000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>
                <a:solidFill>
                  <a:srgbClr val="000000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5"/>
          <p:cNvSpPr txBox="1"/>
          <p:nvPr>
            <p:ph idx="12" type="sldNum"/>
          </p:nvPr>
        </p:nvSpPr>
        <p:spPr>
          <a:xfrm>
            <a:off x="8523550" y="4813799"/>
            <a:ext cx="548700" cy="27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4" name="Google Shape;74;p15"/>
          <p:cNvSpPr txBox="1"/>
          <p:nvPr/>
        </p:nvSpPr>
        <p:spPr>
          <a:xfrm>
            <a:off x="471900" y="4803525"/>
            <a:ext cx="8133300" cy="29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UIT.CS2205.ResearchMethodology</a:t>
            </a:r>
            <a:endParaRPr b="1" i="0" sz="14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- R01" type="title">
  <p:cSld name="TITLE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16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fmla="val 16667" name="adj"/>
            </a:avLst>
          </a:prstGeom>
          <a:solidFill>
            <a:schemeClr val="lt1">
              <a:alpha val="68235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16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9" name="Google Shape;79;p16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17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17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84" name="Google Shape;84;p17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5" name="Google Shape;85;p17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6" name="Google Shape;86;p17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/>
          <p:nvPr/>
        </p:nvSpPr>
        <p:spPr>
          <a:xfrm flipH="1" rot="10800000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8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8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1" name="Google Shape;91;p1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/>
          <p:nvPr/>
        </p:nvSpPr>
        <p:spPr>
          <a:xfrm flipH="1" rot="10800000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9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9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19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7" name="Google Shape;97;p19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0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100" name="Google Shape;100;p20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1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21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05" name="Google Shape;105;p21"/>
          <p:cNvSpPr txBox="1"/>
          <p:nvPr>
            <p:ph idx="1" type="subTitle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6" name="Google Shape;106;p21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7" name="Google Shape;107;p2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2"/>
          <p:cNvSpPr txBox="1"/>
          <p:nvPr/>
        </p:nvSpPr>
        <p:spPr>
          <a:xfrm flipH="1" rot="10800000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22"/>
          <p:cNvSpPr/>
          <p:nvPr/>
        </p:nvSpPr>
        <p:spPr>
          <a:xfrm flipH="1" rot="10800000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57150" y="4163425"/>
            <a:ext cx="8382000" cy="44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4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4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terial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terial">
    <p:bg>
      <p:bgPr>
        <a:solidFill>
          <a:schemeClr val="dk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3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64" name="Google Shape;64;p13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b="0" i="0" sz="18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65" name="Google Shape;65;p13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github.com/nguyenduyngocwork-ai/CS2205.JAN2026" TargetMode="External"/><Relationship Id="rId4" Type="http://schemas.openxmlformats.org/officeDocument/2006/relationships/hyperlink" Target="https://youtu.be/fwVQGPlFwgc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5"/>
          <p:cNvSpPr txBox="1"/>
          <p:nvPr>
            <p:ph type="title"/>
          </p:nvPr>
        </p:nvSpPr>
        <p:spPr>
          <a:xfrm>
            <a:off x="460950" y="600000"/>
            <a:ext cx="8222100" cy="22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b="1" lang="en"/>
              <a:t>CHỈNH SỬA HÌNH ẢNH BẰNG HƯỚNG DẪN NGÔN NGỮ TỰ NHIÊN</a:t>
            </a:r>
            <a:endParaRPr b="1"/>
          </a:p>
        </p:txBody>
      </p:sp>
      <p:sp>
        <p:nvSpPr>
          <p:cNvPr id="124" name="Google Shape;124;p25"/>
          <p:cNvSpPr txBox="1"/>
          <p:nvPr>
            <p:ph type="title"/>
          </p:nvPr>
        </p:nvSpPr>
        <p:spPr>
          <a:xfrm>
            <a:off x="2333050" y="3100000"/>
            <a:ext cx="56664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b="1" lang="en" sz="2400"/>
              <a:t>Nguyễn Duy Ngọc - 250101095</a:t>
            </a:r>
            <a:endParaRPr b="1" sz="24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b="1" lang="en" sz="2400"/>
              <a:t>CS2205.JAN2026</a:t>
            </a:r>
            <a:r>
              <a:rPr b="1" lang="en"/>
              <a:t> </a:t>
            </a:r>
            <a:endParaRPr b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6"/>
          <p:cNvSpPr txBox="1"/>
          <p:nvPr>
            <p:ph type="title"/>
          </p:nvPr>
        </p:nvSpPr>
        <p:spPr>
          <a:xfrm>
            <a:off x="471900" y="57875"/>
            <a:ext cx="8222100" cy="67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en"/>
              <a:t>Tóm tắt </a:t>
            </a:r>
            <a:endParaRPr/>
          </a:p>
        </p:txBody>
      </p:sp>
      <p:sp>
        <p:nvSpPr>
          <p:cNvPr id="130" name="Google Shape;130;p26"/>
          <p:cNvSpPr txBox="1"/>
          <p:nvPr>
            <p:ph idx="1" type="body"/>
          </p:nvPr>
        </p:nvSpPr>
        <p:spPr>
          <a:xfrm>
            <a:off x="0" y="820500"/>
            <a:ext cx="9089100" cy="39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 algn="l">
              <a:spcBef>
                <a:spcPts val="200"/>
              </a:spcBef>
              <a:spcAft>
                <a:spcPts val="0"/>
              </a:spcAft>
              <a:buSzPts val="2200"/>
              <a:buFont typeface="Arial"/>
              <a:buChar char="●"/>
            </a:pPr>
            <a:r>
              <a:rPr lang="en"/>
              <a:t>Lớp: CS2205.JAN2026</a:t>
            </a:r>
            <a:endParaRPr/>
          </a:p>
          <a:p>
            <a:pPr indent="-368300" lvl="0" marL="457200" rtl="0" algn="l">
              <a:spcBef>
                <a:spcPts val="200"/>
              </a:spcBef>
              <a:spcAft>
                <a:spcPts val="0"/>
              </a:spcAft>
              <a:buSzPts val="2200"/>
              <a:buFont typeface="Arial"/>
              <a:buChar char="●"/>
            </a:pPr>
            <a:r>
              <a:rPr lang="en"/>
              <a:t>Link Github: 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https://github.com/nguyenduyngocwork-ai/CS2205.JAN2026</a:t>
            </a:r>
            <a:endParaRPr/>
          </a:p>
          <a:p>
            <a:pPr indent="-368300" lvl="0" marL="457200" rtl="0" algn="l">
              <a:spcBef>
                <a:spcPts val="200"/>
              </a:spcBef>
              <a:spcAft>
                <a:spcPts val="0"/>
              </a:spcAft>
              <a:buSzPts val="2200"/>
              <a:buFont typeface="Arial"/>
              <a:buChar char="●"/>
            </a:pPr>
            <a:r>
              <a:rPr lang="en"/>
              <a:t>Link YouTube video: </a:t>
            </a:r>
            <a:r>
              <a:rPr lang="en" u="sng">
                <a:solidFill>
                  <a:schemeClr val="hlink"/>
                </a:solidFill>
                <a:hlinkClick r:id="rId4"/>
              </a:rPr>
              <a:t>https://youtu.be/fwVQGPlFwgc</a:t>
            </a:r>
            <a:endParaRPr/>
          </a:p>
          <a:p>
            <a:pPr indent="-368300" lvl="0" marL="457200" rtl="0" algn="l">
              <a:spcBef>
                <a:spcPts val="200"/>
              </a:spcBef>
              <a:spcAft>
                <a:spcPts val="0"/>
              </a:spcAft>
              <a:buSzPts val="2200"/>
              <a:buFont typeface="Arial"/>
              <a:buChar char="●"/>
            </a:pPr>
            <a:r>
              <a:rPr lang="en"/>
              <a:t>Thành viên: Nguyễn Duy Ngọc - 250101095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7"/>
          <p:cNvSpPr txBox="1"/>
          <p:nvPr>
            <p:ph type="title"/>
          </p:nvPr>
        </p:nvSpPr>
        <p:spPr>
          <a:xfrm>
            <a:off x="471900" y="57875"/>
            <a:ext cx="8222100" cy="67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en"/>
              <a:t>Giới thiệu</a:t>
            </a:r>
            <a:endParaRPr/>
          </a:p>
        </p:txBody>
      </p:sp>
      <p:sp>
        <p:nvSpPr>
          <p:cNvPr id="136" name="Google Shape;136;p27"/>
          <p:cNvSpPr/>
          <p:nvPr/>
        </p:nvSpPr>
        <p:spPr>
          <a:xfrm>
            <a:off x="475725" y="3142683"/>
            <a:ext cx="3721500" cy="984000"/>
          </a:xfrm>
          <a:prstGeom prst="rect">
            <a:avLst/>
          </a:prstGeom>
          <a:solidFill>
            <a:srgbClr val="D1E8F5"/>
          </a:solidFill>
          <a:ln cap="flat" cmpd="sng" w="130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6850" lIns="93725" spcFirstLastPara="1" rIns="93725" wrap="square" tIns="468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4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27"/>
          <p:cNvSpPr/>
          <p:nvPr/>
        </p:nvSpPr>
        <p:spPr>
          <a:xfrm>
            <a:off x="411480" y="768096"/>
            <a:ext cx="83211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50"/>
              <a:buFont typeface="Calibri"/>
              <a:buNone/>
            </a:pPr>
            <a:r>
              <a:rPr i="1" lang="en" sz="1250">
                <a:solidFill>
                  <a:srgbClr val="6B7280"/>
                </a:solidFill>
                <a:latin typeface="Roboto"/>
                <a:ea typeface="Roboto"/>
                <a:cs typeface="Roboto"/>
                <a:sym typeface="Roboto"/>
              </a:rPr>
              <a:t>Người dùng phổ thông không có kỹ năng chuyên sâu để dùng Photoshop/GIMP</a:t>
            </a:r>
            <a:endParaRPr sz="125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8" name="Google Shape;138;p27"/>
          <p:cNvCxnSpPr/>
          <p:nvPr/>
        </p:nvCxnSpPr>
        <p:spPr>
          <a:xfrm>
            <a:off x="411480" y="1024128"/>
            <a:ext cx="8321100" cy="0"/>
          </a:xfrm>
          <a:prstGeom prst="straightConnector1">
            <a:avLst/>
          </a:prstGeom>
          <a:noFill/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9" name="Google Shape;139;p27"/>
          <p:cNvSpPr/>
          <p:nvPr/>
        </p:nvSpPr>
        <p:spPr>
          <a:xfrm>
            <a:off x="475725" y="1087903"/>
            <a:ext cx="2343300" cy="24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621A"/>
              </a:buClr>
              <a:buSzPts val="1128"/>
              <a:buFont typeface="Calibri"/>
              <a:buNone/>
            </a:pPr>
            <a:r>
              <a:rPr b="1" lang="en" sz="1128">
                <a:solidFill>
                  <a:srgbClr val="E8621A"/>
                </a:solidFill>
                <a:latin typeface="Roboto"/>
                <a:ea typeface="Roboto"/>
                <a:cs typeface="Roboto"/>
                <a:sym typeface="Roboto"/>
              </a:rPr>
              <a:t>Ảnh gốc (I)</a:t>
            </a:r>
            <a:endParaRPr sz="1128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0" name="Google Shape;140;p27"/>
          <p:cNvSpPr/>
          <p:nvPr/>
        </p:nvSpPr>
        <p:spPr>
          <a:xfrm>
            <a:off x="475725" y="1369114"/>
            <a:ext cx="3721500" cy="984000"/>
          </a:xfrm>
          <a:prstGeom prst="rect">
            <a:avLst/>
          </a:prstGeom>
          <a:solidFill>
            <a:srgbClr val="D1E8F5"/>
          </a:solidFill>
          <a:ln cap="flat" cmpd="sng" w="130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6850" lIns="93725" spcFirstLastPara="1" rIns="93725" wrap="square" tIns="468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4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27"/>
          <p:cNvSpPr/>
          <p:nvPr/>
        </p:nvSpPr>
        <p:spPr>
          <a:xfrm>
            <a:off x="1113138" y="1584710"/>
            <a:ext cx="1452900" cy="468600"/>
          </a:xfrm>
          <a:prstGeom prst="rect">
            <a:avLst/>
          </a:prstGeom>
          <a:solidFill>
            <a:srgbClr val="5B7FA6"/>
          </a:solidFill>
          <a:ln>
            <a:noFill/>
          </a:ln>
        </p:spPr>
        <p:txBody>
          <a:bodyPr anchorCtr="0" anchor="t" bIns="46850" lIns="93725" spcFirstLastPara="1" rIns="93725" wrap="square" tIns="468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4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27"/>
          <p:cNvSpPr/>
          <p:nvPr/>
        </p:nvSpPr>
        <p:spPr>
          <a:xfrm>
            <a:off x="1188127" y="1959658"/>
            <a:ext cx="281100" cy="187500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txBody>
          <a:bodyPr anchorCtr="0" anchor="t" bIns="46850" lIns="93725" spcFirstLastPara="1" rIns="93725" wrap="square" tIns="468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4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27"/>
          <p:cNvSpPr/>
          <p:nvPr/>
        </p:nvSpPr>
        <p:spPr>
          <a:xfrm>
            <a:off x="2331720" y="1959658"/>
            <a:ext cx="281100" cy="187500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txBody>
          <a:bodyPr anchorCtr="0" anchor="t" bIns="46850" lIns="93725" spcFirstLastPara="1" rIns="93725" wrap="square" tIns="468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4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27"/>
          <p:cNvSpPr/>
          <p:nvPr/>
        </p:nvSpPr>
        <p:spPr>
          <a:xfrm>
            <a:off x="475725" y="2465839"/>
            <a:ext cx="3721500" cy="337500"/>
          </a:xfrm>
          <a:prstGeom prst="rect">
            <a:avLst/>
          </a:prstGeom>
          <a:solidFill>
            <a:srgbClr val="FFF7ED"/>
          </a:solidFill>
          <a:ln cap="flat" cmpd="sng" w="13025">
            <a:solidFill>
              <a:srgbClr val="FB92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6850" lIns="93725" spcFirstLastPara="1" rIns="93725" wrap="square" tIns="468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4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27"/>
          <p:cNvSpPr/>
          <p:nvPr/>
        </p:nvSpPr>
        <p:spPr>
          <a:xfrm>
            <a:off x="475725" y="2465839"/>
            <a:ext cx="3721500" cy="33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50" lIns="93725" spcFirstLastPara="1" rIns="93725" wrap="square" tIns="46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621A"/>
              </a:buClr>
              <a:buSzPts val="1076"/>
              <a:buFont typeface="Calibri"/>
              <a:buNone/>
            </a:pPr>
            <a:r>
              <a:rPr b="1" i="1" lang="en" sz="1076">
                <a:solidFill>
                  <a:srgbClr val="E8621A"/>
                </a:solidFill>
                <a:latin typeface="Roboto"/>
                <a:ea typeface="Roboto"/>
                <a:cs typeface="Roboto"/>
                <a:sym typeface="Roboto"/>
              </a:rPr>
              <a:t>"Remove the car from the road"</a:t>
            </a:r>
            <a:endParaRPr sz="1076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6" name="Google Shape;146;p27"/>
          <p:cNvSpPr/>
          <p:nvPr/>
        </p:nvSpPr>
        <p:spPr>
          <a:xfrm>
            <a:off x="2097378" y="2822040"/>
            <a:ext cx="468600" cy="26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50" lIns="93725" spcFirstLastPara="1" rIns="93725" wrap="square" tIns="46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621A"/>
              </a:buClr>
              <a:buSzPts val="2050"/>
              <a:buFont typeface="Arial"/>
              <a:buNone/>
            </a:pPr>
            <a:r>
              <a:rPr lang="en" sz="2050">
                <a:solidFill>
                  <a:srgbClr val="E8621A"/>
                </a:solidFill>
                <a:latin typeface="Arial"/>
                <a:ea typeface="Arial"/>
                <a:cs typeface="Arial"/>
                <a:sym typeface="Arial"/>
              </a:rPr>
              <a:t>↓</a:t>
            </a:r>
            <a:endParaRPr sz="2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27"/>
          <p:cNvSpPr/>
          <p:nvPr/>
        </p:nvSpPr>
        <p:spPr>
          <a:xfrm>
            <a:off x="475725" y="2803293"/>
            <a:ext cx="2624400" cy="24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1128"/>
              <a:buFont typeface="Calibri"/>
              <a:buNone/>
            </a:pPr>
            <a:r>
              <a:rPr b="1" lang="en" sz="1128">
                <a:solidFill>
                  <a:srgbClr val="16A34A"/>
                </a:solidFill>
                <a:latin typeface="Roboto"/>
                <a:ea typeface="Roboto"/>
                <a:cs typeface="Roboto"/>
                <a:sym typeface="Roboto"/>
              </a:rPr>
              <a:t>Ảnh kết quả (I*)</a:t>
            </a:r>
            <a:endParaRPr sz="1128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8" name="Google Shape;148;p27"/>
          <p:cNvSpPr/>
          <p:nvPr/>
        </p:nvSpPr>
        <p:spPr>
          <a:xfrm>
            <a:off x="972532" y="3365716"/>
            <a:ext cx="2390100" cy="356100"/>
          </a:xfrm>
          <a:prstGeom prst="rect">
            <a:avLst/>
          </a:prstGeom>
          <a:solidFill>
            <a:srgbClr val="AECFB0"/>
          </a:solidFill>
          <a:ln>
            <a:noFill/>
          </a:ln>
        </p:spPr>
        <p:txBody>
          <a:bodyPr anchorCtr="0" anchor="t" bIns="46850" lIns="93725" spcFirstLastPara="1" rIns="93725" wrap="square" tIns="468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4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27"/>
          <p:cNvSpPr/>
          <p:nvPr/>
        </p:nvSpPr>
        <p:spPr>
          <a:xfrm>
            <a:off x="972532" y="3514579"/>
            <a:ext cx="2390100" cy="20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50" lIns="93725" spcFirstLastPara="1" rIns="93725" wrap="square" tIns="46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71"/>
              <a:buFont typeface="Calibri"/>
              <a:buNone/>
            </a:pPr>
            <a:r>
              <a:rPr i="1" lang="en" sz="871">
                <a:solidFill>
                  <a:srgbClr val="6B7280"/>
                </a:solidFill>
                <a:latin typeface="Roboto"/>
                <a:ea typeface="Roboto"/>
                <a:cs typeface="Roboto"/>
                <a:sym typeface="Roboto"/>
              </a:rPr>
              <a:t>(xe đã được xóa)</a:t>
            </a:r>
            <a:endParaRPr sz="87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0" name="Google Shape;150;p27"/>
          <p:cNvSpPr/>
          <p:nvPr/>
        </p:nvSpPr>
        <p:spPr>
          <a:xfrm>
            <a:off x="4572000" y="1070937"/>
            <a:ext cx="4160400" cy="32004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27"/>
          <p:cNvSpPr/>
          <p:nvPr/>
        </p:nvSpPr>
        <p:spPr>
          <a:xfrm>
            <a:off x="4709160" y="1171521"/>
            <a:ext cx="3886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300"/>
              <a:buFont typeface="Calibri"/>
              <a:buNone/>
            </a:pPr>
            <a:r>
              <a:rPr b="1" lang="en" sz="1300">
                <a:solidFill>
                  <a:srgbClr val="DC2626"/>
                </a:solidFill>
                <a:latin typeface="Roboto"/>
                <a:ea typeface="Roboto"/>
                <a:cs typeface="Roboto"/>
                <a:sym typeface="Roboto"/>
              </a:rPr>
              <a:t>Khi chỉnh sửa thủ công...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2" name="Google Shape;152;p27"/>
          <p:cNvSpPr/>
          <p:nvPr/>
        </p:nvSpPr>
        <p:spPr>
          <a:xfrm>
            <a:off x="4709160" y="1555569"/>
            <a:ext cx="50400" cy="731400"/>
          </a:xfrm>
          <a:prstGeom prst="rect">
            <a:avLst/>
          </a:prstGeom>
          <a:solidFill>
            <a:srgbClr val="DC2626"/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27"/>
          <p:cNvSpPr/>
          <p:nvPr/>
        </p:nvSpPr>
        <p:spPr>
          <a:xfrm>
            <a:off x="4828032" y="1592145"/>
            <a:ext cx="37215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Calibri"/>
              <a:buNone/>
            </a:pPr>
            <a:r>
              <a:rPr b="1" lang="en" sz="1200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rPr>
              <a:t>Rào cản kỹ năng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4" name="Google Shape;154;p27"/>
          <p:cNvSpPr/>
          <p:nvPr/>
        </p:nvSpPr>
        <p:spPr>
          <a:xfrm>
            <a:off x="4828032" y="1848177"/>
            <a:ext cx="37215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lang="en" sz="1000">
                <a:solidFill>
                  <a:srgbClr val="6B7280"/>
                </a:solidFill>
                <a:latin typeface="Roboto"/>
                <a:ea typeface="Roboto"/>
                <a:cs typeface="Roboto"/>
                <a:sym typeface="Roboto"/>
              </a:rPr>
              <a:t>Photoshop / GIMP cần đào tạo nhiều năm. Người dùng phổ thông không tiếp cận được.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5" name="Google Shape;155;p27"/>
          <p:cNvSpPr/>
          <p:nvPr/>
        </p:nvSpPr>
        <p:spPr>
          <a:xfrm>
            <a:off x="4709160" y="2360241"/>
            <a:ext cx="50400" cy="731400"/>
          </a:xfrm>
          <a:prstGeom prst="rect">
            <a:avLst/>
          </a:prstGeom>
          <a:solidFill>
            <a:srgbClr val="DC2626"/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27"/>
          <p:cNvSpPr/>
          <p:nvPr/>
        </p:nvSpPr>
        <p:spPr>
          <a:xfrm>
            <a:off x="4828032" y="2396817"/>
            <a:ext cx="37215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Calibri"/>
              <a:buNone/>
            </a:pPr>
            <a:r>
              <a:rPr b="1" lang="en" sz="1200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rPr>
              <a:t>Tốn thời gian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7" name="Google Shape;157;p27"/>
          <p:cNvSpPr/>
          <p:nvPr/>
        </p:nvSpPr>
        <p:spPr>
          <a:xfrm>
            <a:off x="4828032" y="2652849"/>
            <a:ext cx="37215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lang="en" sz="1000">
                <a:solidFill>
                  <a:srgbClr val="6B7280"/>
                </a:solidFill>
                <a:latin typeface="Roboto"/>
                <a:ea typeface="Roboto"/>
                <a:cs typeface="Roboto"/>
                <a:sym typeface="Roboto"/>
              </a:rPr>
              <a:t>Chọn vùng, tô xóa, blend màu — một thao tác đơn giản mất 15–30 phút.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8" name="Google Shape;158;p27"/>
          <p:cNvSpPr/>
          <p:nvPr/>
        </p:nvSpPr>
        <p:spPr>
          <a:xfrm>
            <a:off x="4709160" y="3164913"/>
            <a:ext cx="50400" cy="731400"/>
          </a:xfrm>
          <a:prstGeom prst="rect">
            <a:avLst/>
          </a:prstGeom>
          <a:solidFill>
            <a:srgbClr val="DC2626"/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27"/>
          <p:cNvSpPr/>
          <p:nvPr/>
        </p:nvSpPr>
        <p:spPr>
          <a:xfrm>
            <a:off x="4828032" y="3201489"/>
            <a:ext cx="37215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Calibri"/>
              <a:buNone/>
            </a:pPr>
            <a:r>
              <a:rPr b="1" lang="en" sz="1200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rPr>
              <a:t>Không trực quan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0" name="Google Shape;160;p27"/>
          <p:cNvSpPr/>
          <p:nvPr/>
        </p:nvSpPr>
        <p:spPr>
          <a:xfrm>
            <a:off x="4828032" y="3529584"/>
            <a:ext cx="37215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lang="en" sz="1000">
                <a:solidFill>
                  <a:srgbClr val="6B7280"/>
                </a:solidFill>
                <a:latin typeface="Roboto"/>
                <a:ea typeface="Roboto"/>
                <a:cs typeface="Roboto"/>
                <a:sym typeface="Roboto"/>
              </a:rPr>
              <a:t>Người dùng phải "dịch" ý tưởng thành thao tác kỹ thuật thay vì nói thẳng ra.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1" name="Google Shape;161;p27"/>
          <p:cNvSpPr/>
          <p:nvPr/>
        </p:nvSpPr>
        <p:spPr>
          <a:xfrm>
            <a:off x="411480" y="4327154"/>
            <a:ext cx="8321100" cy="393300"/>
          </a:xfrm>
          <a:prstGeom prst="rect">
            <a:avLst/>
          </a:prstGeom>
          <a:solidFill>
            <a:srgbClr val="FFF7ED"/>
          </a:solidFill>
          <a:ln cap="flat" cmpd="sng" w="12700">
            <a:solidFill>
              <a:srgbClr val="FFF7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27"/>
          <p:cNvSpPr/>
          <p:nvPr/>
        </p:nvSpPr>
        <p:spPr>
          <a:xfrm>
            <a:off x="502920" y="4327154"/>
            <a:ext cx="8229600" cy="39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621A"/>
              </a:buClr>
              <a:buSzPts val="1100"/>
              <a:buFont typeface="Calibri"/>
              <a:buNone/>
            </a:pPr>
            <a:r>
              <a:rPr lang="en" sz="1100">
                <a:solidFill>
                  <a:srgbClr val="E8621A"/>
                </a:solidFill>
                <a:latin typeface="Roboto"/>
                <a:ea typeface="Roboto"/>
                <a:cs typeface="Roboto"/>
                <a:sym typeface="Roboto"/>
              </a:rPr>
              <a:t>Giải pháp: Để người dùng mô tả yêu cầu bằng ngôn ngữ tự nhiên thay vì thao tác kỹ thuật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8"/>
          <p:cNvSpPr txBox="1"/>
          <p:nvPr>
            <p:ph type="title"/>
          </p:nvPr>
        </p:nvSpPr>
        <p:spPr>
          <a:xfrm>
            <a:off x="471900" y="57875"/>
            <a:ext cx="8222100" cy="67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en"/>
              <a:t>Phát biểu bài toán</a:t>
            </a:r>
            <a:endParaRPr/>
          </a:p>
        </p:txBody>
      </p:sp>
      <p:sp>
        <p:nvSpPr>
          <p:cNvPr id="168" name="Google Shape;168;p28"/>
          <p:cNvSpPr/>
          <p:nvPr/>
        </p:nvSpPr>
        <p:spPr>
          <a:xfrm>
            <a:off x="180458" y="826048"/>
            <a:ext cx="8809500" cy="1432800"/>
          </a:xfrm>
          <a:prstGeom prst="rect">
            <a:avLst/>
          </a:prstGeom>
          <a:solidFill>
            <a:srgbClr val="FFF7ED"/>
          </a:solidFill>
          <a:ln cap="flat" cmpd="sng" w="13450">
            <a:solidFill>
              <a:srgbClr val="FB92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8400" lIns="96775" spcFirstLastPara="1" rIns="96775" wrap="square" tIns="48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6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28"/>
          <p:cNvSpPr/>
          <p:nvPr/>
        </p:nvSpPr>
        <p:spPr>
          <a:xfrm>
            <a:off x="374070" y="893812"/>
            <a:ext cx="1258200" cy="25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621A"/>
              </a:buClr>
              <a:buSzPts val="1217"/>
              <a:buFont typeface="Calibri"/>
              <a:buNone/>
            </a:pPr>
            <a:r>
              <a:rPr b="1" lang="en" sz="1217">
                <a:solidFill>
                  <a:srgbClr val="E8621A"/>
                </a:solidFill>
                <a:latin typeface="Roboto"/>
                <a:ea typeface="Roboto"/>
                <a:cs typeface="Roboto"/>
                <a:sym typeface="Roboto"/>
              </a:rPr>
              <a:t>Bài toán:</a:t>
            </a:r>
            <a:endParaRPr sz="1217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0" name="Google Shape;170;p28"/>
          <p:cNvSpPr/>
          <p:nvPr/>
        </p:nvSpPr>
        <p:spPr>
          <a:xfrm>
            <a:off x="374070" y="1145507"/>
            <a:ext cx="8518800" cy="101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8400" lIns="96775" spcFirstLastPara="1" rIns="96775" wrap="square" tIns="48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88">
                <a:solidFill>
                  <a:srgbClr val="6B7280"/>
                </a:solidFill>
                <a:latin typeface="Roboto"/>
                <a:ea typeface="Roboto"/>
                <a:cs typeface="Roboto"/>
                <a:sym typeface="Roboto"/>
              </a:rPr>
              <a:t>Cho </a:t>
            </a:r>
            <a:r>
              <a:rPr b="1" i="1" lang="en" sz="4023">
                <a:solidFill>
                  <a:srgbClr val="111827"/>
                </a:solidFill>
                <a:latin typeface="Cambria Math"/>
                <a:ea typeface="Cambria Math"/>
                <a:cs typeface="Cambria Math"/>
                <a:sym typeface="Cambria Math"/>
              </a:rPr>
              <a:t>I</a:t>
            </a:r>
            <a:r>
              <a:rPr lang="en" sz="1588">
                <a:solidFill>
                  <a:srgbClr val="6B7280"/>
                </a:solidFill>
                <a:latin typeface="Roboto"/>
                <a:ea typeface="Roboto"/>
                <a:cs typeface="Roboto"/>
                <a:sym typeface="Roboto"/>
              </a:rPr>
              <a:t> (ảnh gốc)  và  </a:t>
            </a:r>
            <a:r>
              <a:rPr b="1" i="1" lang="en" sz="4023">
                <a:solidFill>
                  <a:srgbClr val="E8621A"/>
                </a:solidFill>
                <a:latin typeface="Cambria Math"/>
                <a:ea typeface="Cambria Math"/>
                <a:cs typeface="Cambria Math"/>
                <a:sym typeface="Cambria Math"/>
              </a:rPr>
              <a:t>T</a:t>
            </a:r>
            <a:r>
              <a:rPr lang="en" sz="1588">
                <a:solidFill>
                  <a:srgbClr val="6B7280"/>
                </a:solidFill>
                <a:latin typeface="Roboto"/>
                <a:ea typeface="Roboto"/>
                <a:cs typeface="Roboto"/>
                <a:sym typeface="Roboto"/>
              </a:rPr>
              <a:t> (câu lệnh)  →  tìm  </a:t>
            </a:r>
            <a:r>
              <a:rPr b="1" i="1" lang="en" sz="4023">
                <a:solidFill>
                  <a:srgbClr val="16A34A"/>
                </a:solidFill>
                <a:latin typeface="Cambria Math"/>
                <a:ea typeface="Cambria Math"/>
                <a:cs typeface="Cambria Math"/>
                <a:sym typeface="Cambria Math"/>
              </a:rPr>
              <a:t>I</a:t>
            </a:r>
            <a:r>
              <a:rPr b="1" i="1" lang="en" sz="3388">
                <a:solidFill>
                  <a:srgbClr val="16A34A"/>
                </a:solidFill>
                <a:latin typeface="Roboto"/>
                <a:ea typeface="Roboto"/>
                <a:cs typeface="Roboto"/>
                <a:sym typeface="Roboto"/>
              </a:rPr>
              <a:t>*</a:t>
            </a:r>
            <a:r>
              <a:rPr lang="en" sz="2329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rPr>
              <a:t>  =  f (</a:t>
            </a:r>
            <a:r>
              <a:rPr b="1" i="1" lang="en" sz="4023">
                <a:solidFill>
                  <a:srgbClr val="111827"/>
                </a:solidFill>
                <a:latin typeface="Cambria Math"/>
                <a:ea typeface="Cambria Math"/>
                <a:cs typeface="Cambria Math"/>
                <a:sym typeface="Cambria Math"/>
              </a:rPr>
              <a:t>I</a:t>
            </a:r>
            <a:r>
              <a:rPr lang="en" sz="2329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rPr>
              <a:t> ,  </a:t>
            </a:r>
            <a:r>
              <a:rPr b="1" i="1" lang="en" sz="4023">
                <a:solidFill>
                  <a:srgbClr val="E8621A"/>
                </a:solidFill>
                <a:latin typeface="Cambria Math"/>
                <a:ea typeface="Cambria Math"/>
                <a:cs typeface="Cambria Math"/>
                <a:sym typeface="Cambria Math"/>
              </a:rPr>
              <a:t>T</a:t>
            </a:r>
            <a:r>
              <a:rPr lang="en" sz="2329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rPr>
              <a:t> )</a:t>
            </a:r>
            <a:endParaRPr sz="1588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1" name="Google Shape;171;p28"/>
          <p:cNvSpPr/>
          <p:nvPr/>
        </p:nvSpPr>
        <p:spPr>
          <a:xfrm>
            <a:off x="180458" y="2374936"/>
            <a:ext cx="2807400" cy="1819800"/>
          </a:xfrm>
          <a:prstGeom prst="rect">
            <a:avLst/>
          </a:prstGeom>
          <a:solidFill>
            <a:srgbClr val="F8FAFC"/>
          </a:solidFill>
          <a:ln cap="flat" cmpd="sng" w="1345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8400" lIns="96775" spcFirstLastPara="1" rIns="96775" wrap="square" tIns="48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6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28"/>
          <p:cNvSpPr/>
          <p:nvPr/>
        </p:nvSpPr>
        <p:spPr>
          <a:xfrm>
            <a:off x="180458" y="2452381"/>
            <a:ext cx="28074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8400" lIns="96775" spcFirstLastPara="1" rIns="96775" wrap="square" tIns="48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4023"/>
              <a:buFont typeface="Cambria Math"/>
              <a:buNone/>
            </a:pPr>
            <a:r>
              <a:rPr b="1" i="1" lang="en" sz="4023">
                <a:solidFill>
                  <a:srgbClr val="111827"/>
                </a:solidFill>
                <a:latin typeface="Cambria Math"/>
                <a:ea typeface="Cambria Math"/>
                <a:cs typeface="Cambria Math"/>
                <a:sym typeface="Cambria Math"/>
              </a:rPr>
              <a:t>I</a:t>
            </a:r>
            <a:endParaRPr sz="402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28"/>
          <p:cNvSpPr/>
          <p:nvPr/>
        </p:nvSpPr>
        <p:spPr>
          <a:xfrm>
            <a:off x="277264" y="3071936"/>
            <a:ext cx="26139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8400" lIns="96775" spcFirstLastPara="1" rIns="96775" wrap="square" tIns="48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70"/>
              <a:buFont typeface="Calibri"/>
              <a:buNone/>
            </a:pPr>
            <a:r>
              <a:rPr b="1" lang="en" sz="127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Input Image</a:t>
            </a:r>
            <a:endParaRPr sz="127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28"/>
          <p:cNvSpPr/>
          <p:nvPr/>
        </p:nvSpPr>
        <p:spPr>
          <a:xfrm>
            <a:off x="277264" y="3342991"/>
            <a:ext cx="2613900" cy="21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8400" lIns="96775" spcFirstLastPara="1" rIns="96775" wrap="square" tIns="48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6"/>
              <a:buFont typeface="Calibri"/>
              <a:buNone/>
            </a:pPr>
            <a:r>
              <a:rPr i="1" lang="en" sz="1006">
                <a:solidFill>
                  <a:srgbClr val="6B7280"/>
                </a:solidFill>
                <a:latin typeface="Roboto"/>
                <a:ea typeface="Roboto"/>
                <a:cs typeface="Roboto"/>
                <a:sym typeface="Roboto"/>
              </a:rPr>
              <a:t>Ảnh đầu vào</a:t>
            </a:r>
            <a:endParaRPr sz="1006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5" name="Google Shape;175;p28"/>
          <p:cNvCxnSpPr/>
          <p:nvPr/>
        </p:nvCxnSpPr>
        <p:spPr>
          <a:xfrm>
            <a:off x="422473" y="3594685"/>
            <a:ext cx="2323200" cy="0"/>
          </a:xfrm>
          <a:prstGeom prst="straightConnector1">
            <a:avLst/>
          </a:prstGeom>
          <a:noFill/>
          <a:ln cap="flat" cmpd="sng" w="1007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6" name="Google Shape;176;p28"/>
          <p:cNvSpPr/>
          <p:nvPr/>
        </p:nvSpPr>
        <p:spPr>
          <a:xfrm>
            <a:off x="277264" y="3662449"/>
            <a:ext cx="2613900" cy="48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8400" lIns="96775" spcFirstLastPara="1" rIns="96775" wrap="square" tIns="48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53"/>
              <a:buFont typeface="Calibri"/>
              <a:buNone/>
            </a:pPr>
            <a:r>
              <a:rPr lang="en" sz="953">
                <a:solidFill>
                  <a:srgbClr val="6B7280"/>
                </a:solidFill>
                <a:latin typeface="Roboto"/>
                <a:ea typeface="Roboto"/>
                <a:cs typeface="Roboto"/>
                <a:sym typeface="Roboto"/>
              </a:rPr>
              <a:t>Ảnh RGB gốc chưa chỉnh sửa</a:t>
            </a:r>
            <a:endParaRPr sz="953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53"/>
              <a:buFont typeface="Calibri"/>
              <a:buNone/>
            </a:pPr>
            <a:r>
              <a:rPr lang="en" sz="953">
                <a:solidFill>
                  <a:srgbClr val="6B7280"/>
                </a:solidFill>
                <a:latin typeface="Roboto"/>
                <a:ea typeface="Roboto"/>
                <a:cs typeface="Roboto"/>
                <a:sym typeface="Roboto"/>
              </a:rPr>
              <a:t>Định dạng PNG / JPG</a:t>
            </a:r>
            <a:endParaRPr sz="953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53"/>
              <a:buFont typeface="Calibri"/>
              <a:buNone/>
            </a:pPr>
            <a:r>
              <a:rPr lang="en" sz="953">
                <a:solidFill>
                  <a:srgbClr val="6B7280"/>
                </a:solidFill>
                <a:latin typeface="Roboto"/>
                <a:ea typeface="Roboto"/>
                <a:cs typeface="Roboto"/>
                <a:sym typeface="Roboto"/>
              </a:rPr>
              <a:t>Kích thước tùy ý</a:t>
            </a:r>
            <a:endParaRPr sz="953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7" name="Google Shape;177;p28"/>
          <p:cNvSpPr/>
          <p:nvPr/>
        </p:nvSpPr>
        <p:spPr>
          <a:xfrm>
            <a:off x="3181449" y="2374936"/>
            <a:ext cx="2807400" cy="1819800"/>
          </a:xfrm>
          <a:prstGeom prst="rect">
            <a:avLst/>
          </a:prstGeom>
          <a:solidFill>
            <a:srgbClr val="FFF7ED"/>
          </a:solidFill>
          <a:ln cap="flat" cmpd="sng" w="13450">
            <a:solidFill>
              <a:srgbClr val="FB92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8400" lIns="96775" spcFirstLastPara="1" rIns="96775" wrap="square" tIns="48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6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28"/>
          <p:cNvSpPr/>
          <p:nvPr/>
        </p:nvSpPr>
        <p:spPr>
          <a:xfrm>
            <a:off x="3181449" y="2452381"/>
            <a:ext cx="28074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8400" lIns="96775" spcFirstLastPara="1" rIns="96775" wrap="square" tIns="48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621A"/>
              </a:buClr>
              <a:buSzPts val="4023"/>
              <a:buFont typeface="Cambria Math"/>
              <a:buNone/>
            </a:pPr>
            <a:r>
              <a:rPr b="1" i="1" lang="en" sz="4023">
                <a:solidFill>
                  <a:srgbClr val="E8621A"/>
                </a:solidFill>
                <a:latin typeface="Cambria Math"/>
                <a:ea typeface="Cambria Math"/>
                <a:cs typeface="Cambria Math"/>
                <a:sym typeface="Cambria Math"/>
              </a:rPr>
              <a:t>T</a:t>
            </a:r>
            <a:endParaRPr sz="402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28"/>
          <p:cNvSpPr/>
          <p:nvPr/>
        </p:nvSpPr>
        <p:spPr>
          <a:xfrm>
            <a:off x="3278256" y="3071936"/>
            <a:ext cx="26139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8400" lIns="96775" spcFirstLastPara="1" rIns="96775" wrap="square" tIns="48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70"/>
              <a:buFont typeface="Calibri"/>
              <a:buNone/>
            </a:pPr>
            <a:r>
              <a:rPr b="1" lang="en" sz="127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Text Instruction</a:t>
            </a:r>
            <a:endParaRPr sz="127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28"/>
          <p:cNvSpPr/>
          <p:nvPr/>
        </p:nvSpPr>
        <p:spPr>
          <a:xfrm>
            <a:off x="3278256" y="3342991"/>
            <a:ext cx="2613900" cy="21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8400" lIns="96775" spcFirstLastPara="1" rIns="96775" wrap="square" tIns="48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6"/>
              <a:buFont typeface="Calibri"/>
              <a:buNone/>
            </a:pPr>
            <a:r>
              <a:rPr i="1" lang="en" sz="1006">
                <a:solidFill>
                  <a:srgbClr val="6B7280"/>
                </a:solidFill>
                <a:latin typeface="Roboto"/>
                <a:ea typeface="Roboto"/>
                <a:cs typeface="Roboto"/>
                <a:sym typeface="Roboto"/>
              </a:rPr>
              <a:t>Câu lệnh tự nhiên</a:t>
            </a:r>
            <a:endParaRPr sz="1006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81" name="Google Shape;181;p28"/>
          <p:cNvCxnSpPr/>
          <p:nvPr/>
        </p:nvCxnSpPr>
        <p:spPr>
          <a:xfrm>
            <a:off x="3423465" y="3594685"/>
            <a:ext cx="2323200" cy="0"/>
          </a:xfrm>
          <a:prstGeom prst="straightConnector1">
            <a:avLst/>
          </a:prstGeom>
          <a:noFill/>
          <a:ln cap="flat" cmpd="sng" w="1007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2" name="Google Shape;182;p28"/>
          <p:cNvSpPr/>
          <p:nvPr/>
        </p:nvSpPr>
        <p:spPr>
          <a:xfrm>
            <a:off x="3278256" y="3662449"/>
            <a:ext cx="2613900" cy="48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8400" lIns="96775" spcFirstLastPara="1" rIns="96775" wrap="square" tIns="48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53"/>
              <a:buFont typeface="Calibri"/>
              <a:buNone/>
            </a:pPr>
            <a:r>
              <a:rPr lang="en" sz="953">
                <a:solidFill>
                  <a:srgbClr val="6B7280"/>
                </a:solidFill>
                <a:latin typeface="Roboto"/>
                <a:ea typeface="Roboto"/>
                <a:cs typeface="Roboto"/>
                <a:sym typeface="Roboto"/>
              </a:rPr>
              <a:t>Mô tả hành động chỉnh sửa</a:t>
            </a:r>
            <a:endParaRPr sz="953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53"/>
              <a:buFont typeface="Calibri"/>
              <a:buNone/>
            </a:pPr>
            <a:r>
              <a:rPr lang="en" sz="953">
                <a:solidFill>
                  <a:srgbClr val="6B7280"/>
                </a:solidFill>
                <a:latin typeface="Roboto"/>
                <a:ea typeface="Roboto"/>
                <a:cs typeface="Roboto"/>
                <a:sym typeface="Roboto"/>
              </a:rPr>
              <a:t>bằng tiếng Anh tự nhiên</a:t>
            </a:r>
            <a:endParaRPr sz="953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53"/>
              <a:buFont typeface="Calibri"/>
              <a:buNone/>
            </a:pPr>
            <a:r>
              <a:rPr lang="en" sz="953">
                <a:solidFill>
                  <a:srgbClr val="6B7280"/>
                </a:solidFill>
                <a:latin typeface="Roboto"/>
                <a:ea typeface="Roboto"/>
                <a:cs typeface="Roboto"/>
                <a:sym typeface="Roboto"/>
              </a:rPr>
              <a:t>Ví dụ: "Turn the shirt blue"</a:t>
            </a:r>
            <a:endParaRPr sz="953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3" name="Google Shape;183;p28"/>
          <p:cNvSpPr/>
          <p:nvPr/>
        </p:nvSpPr>
        <p:spPr>
          <a:xfrm>
            <a:off x="6182441" y="2374936"/>
            <a:ext cx="2807400" cy="1819800"/>
          </a:xfrm>
          <a:prstGeom prst="rect">
            <a:avLst/>
          </a:prstGeom>
          <a:solidFill>
            <a:srgbClr val="F0FDF4"/>
          </a:solidFill>
          <a:ln cap="flat" cmpd="sng" w="13450">
            <a:solidFill>
              <a:srgbClr val="86EF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8400" lIns="96775" spcFirstLastPara="1" rIns="96775" wrap="square" tIns="48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6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28"/>
          <p:cNvSpPr/>
          <p:nvPr/>
        </p:nvSpPr>
        <p:spPr>
          <a:xfrm>
            <a:off x="6182441" y="2452381"/>
            <a:ext cx="28074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8400" lIns="96775" spcFirstLastPara="1" rIns="96775" wrap="square" tIns="48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4023"/>
              <a:buFont typeface="Cambria Math"/>
              <a:buNone/>
            </a:pPr>
            <a:r>
              <a:rPr b="1" i="1" lang="en" sz="4023">
                <a:solidFill>
                  <a:srgbClr val="16A34A"/>
                </a:solidFill>
                <a:latin typeface="Cambria Math"/>
                <a:ea typeface="Cambria Math"/>
                <a:cs typeface="Cambria Math"/>
                <a:sym typeface="Cambria Math"/>
              </a:rPr>
              <a:t>I*</a:t>
            </a:r>
            <a:endParaRPr sz="402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28"/>
          <p:cNvSpPr/>
          <p:nvPr/>
        </p:nvSpPr>
        <p:spPr>
          <a:xfrm>
            <a:off x="6279247" y="3071936"/>
            <a:ext cx="26139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8400" lIns="96775" spcFirstLastPara="1" rIns="96775" wrap="square" tIns="48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70"/>
              <a:buFont typeface="Calibri"/>
              <a:buNone/>
            </a:pPr>
            <a:r>
              <a:rPr b="1" lang="en" sz="127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Output Image</a:t>
            </a:r>
            <a:endParaRPr sz="127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28"/>
          <p:cNvSpPr/>
          <p:nvPr/>
        </p:nvSpPr>
        <p:spPr>
          <a:xfrm>
            <a:off x="6279247" y="3342991"/>
            <a:ext cx="2613900" cy="21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8400" lIns="96775" spcFirstLastPara="1" rIns="96775" wrap="square" tIns="48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6"/>
              <a:buFont typeface="Calibri"/>
              <a:buNone/>
            </a:pPr>
            <a:r>
              <a:rPr i="1" lang="en" sz="1006">
                <a:solidFill>
                  <a:srgbClr val="6B7280"/>
                </a:solidFill>
                <a:latin typeface="Roboto"/>
                <a:ea typeface="Roboto"/>
                <a:cs typeface="Roboto"/>
                <a:sym typeface="Roboto"/>
              </a:rPr>
              <a:t>Ảnh kết quả</a:t>
            </a:r>
            <a:endParaRPr sz="1006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87" name="Google Shape;187;p28"/>
          <p:cNvCxnSpPr/>
          <p:nvPr/>
        </p:nvCxnSpPr>
        <p:spPr>
          <a:xfrm>
            <a:off x="6424456" y="3594685"/>
            <a:ext cx="2323200" cy="0"/>
          </a:xfrm>
          <a:prstGeom prst="straightConnector1">
            <a:avLst/>
          </a:prstGeom>
          <a:noFill/>
          <a:ln cap="flat" cmpd="sng" w="1007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8" name="Google Shape;188;p28"/>
          <p:cNvSpPr/>
          <p:nvPr/>
        </p:nvSpPr>
        <p:spPr>
          <a:xfrm>
            <a:off x="6279247" y="3662449"/>
            <a:ext cx="2613900" cy="48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8400" lIns="96775" spcFirstLastPara="1" rIns="96775" wrap="square" tIns="48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53"/>
              <a:buFont typeface="Calibri"/>
              <a:buNone/>
            </a:pPr>
            <a:r>
              <a:rPr lang="en" sz="953">
                <a:solidFill>
                  <a:srgbClr val="6B7280"/>
                </a:solidFill>
                <a:latin typeface="Roboto"/>
                <a:ea typeface="Roboto"/>
                <a:cs typeface="Roboto"/>
                <a:sym typeface="Roboto"/>
              </a:rPr>
              <a:t>Vùng mục tiêu: đã chỉnh sửa</a:t>
            </a:r>
            <a:endParaRPr sz="953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53"/>
              <a:buFont typeface="Calibri"/>
              <a:buNone/>
            </a:pPr>
            <a:r>
              <a:rPr lang="en" sz="953">
                <a:solidFill>
                  <a:srgbClr val="6B7280"/>
                </a:solidFill>
                <a:latin typeface="Roboto"/>
                <a:ea typeface="Roboto"/>
                <a:cs typeface="Roboto"/>
                <a:sym typeface="Roboto"/>
              </a:rPr>
              <a:t>Phần còn lại: bảo toàn pixel</a:t>
            </a:r>
            <a:endParaRPr sz="953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53"/>
              <a:buFont typeface="Calibri"/>
              <a:buNone/>
            </a:pPr>
            <a:r>
              <a:rPr lang="en" sz="953">
                <a:solidFill>
                  <a:srgbClr val="6B7280"/>
                </a:solidFill>
                <a:latin typeface="Roboto"/>
                <a:ea typeface="Roboto"/>
                <a:cs typeface="Roboto"/>
                <a:sym typeface="Roboto"/>
              </a:rPr>
              <a:t>Không thay đổi vùng không liên quan</a:t>
            </a:r>
            <a:endParaRPr sz="953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9" name="Google Shape;189;p28"/>
          <p:cNvSpPr/>
          <p:nvPr/>
        </p:nvSpPr>
        <p:spPr>
          <a:xfrm>
            <a:off x="180458" y="4340087"/>
            <a:ext cx="8809500" cy="416400"/>
          </a:xfrm>
          <a:prstGeom prst="rect">
            <a:avLst/>
          </a:prstGeom>
          <a:solidFill>
            <a:srgbClr val="FFF7ED"/>
          </a:solidFill>
          <a:ln cap="flat" cmpd="sng" w="13450">
            <a:solidFill>
              <a:srgbClr val="FFF7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8400" lIns="96775" spcFirstLastPara="1" rIns="96775" wrap="square" tIns="48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6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28"/>
          <p:cNvSpPr/>
          <p:nvPr/>
        </p:nvSpPr>
        <p:spPr>
          <a:xfrm>
            <a:off x="277264" y="4340087"/>
            <a:ext cx="8712600" cy="41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8400" lIns="96775" spcFirstLastPara="1" rIns="96775" wrap="square" tIns="48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621A"/>
              </a:buClr>
              <a:buSzPts val="1165"/>
              <a:buFont typeface="Calibri"/>
              <a:buNone/>
            </a:pPr>
            <a:r>
              <a:rPr lang="en" sz="1165">
                <a:solidFill>
                  <a:srgbClr val="E8621A"/>
                </a:solidFill>
                <a:latin typeface="Roboto"/>
                <a:ea typeface="Roboto"/>
                <a:cs typeface="Roboto"/>
                <a:sym typeface="Roboto"/>
              </a:rPr>
              <a:t>Ràng buộc: (1) Vùng mục tiêu được chỉnh sửa đúng yêu cầu  ·  (2) Pixel ngoài vùng được bảo toàn tối đa</a:t>
            </a:r>
            <a:endParaRPr sz="1165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9"/>
          <p:cNvSpPr txBox="1"/>
          <p:nvPr>
            <p:ph type="title"/>
          </p:nvPr>
        </p:nvSpPr>
        <p:spPr>
          <a:xfrm>
            <a:off x="471900" y="57875"/>
            <a:ext cx="8222100" cy="67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en"/>
              <a:t>Phát biểu bài toán</a:t>
            </a:r>
            <a:endParaRPr/>
          </a:p>
        </p:txBody>
      </p:sp>
      <p:pic>
        <p:nvPicPr>
          <p:cNvPr id="196" name="Google Shape;196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9502" y="817720"/>
            <a:ext cx="8594250" cy="3887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0"/>
          <p:cNvSpPr txBox="1"/>
          <p:nvPr>
            <p:ph type="title"/>
          </p:nvPr>
        </p:nvSpPr>
        <p:spPr>
          <a:xfrm>
            <a:off x="471900" y="57875"/>
            <a:ext cx="8222100" cy="67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en"/>
              <a:t>Phát biểu bài toán</a:t>
            </a:r>
            <a:endParaRPr/>
          </a:p>
        </p:txBody>
      </p:sp>
      <p:sp>
        <p:nvSpPr>
          <p:cNvPr id="202" name="Google Shape;202;p30"/>
          <p:cNvSpPr/>
          <p:nvPr/>
        </p:nvSpPr>
        <p:spPr>
          <a:xfrm>
            <a:off x="411480" y="786112"/>
            <a:ext cx="83211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50"/>
              <a:buFont typeface="Calibri"/>
              <a:buNone/>
            </a:pPr>
            <a:r>
              <a:rPr i="1" lang="en" sz="1250">
                <a:solidFill>
                  <a:srgbClr val="6B7280"/>
                </a:solidFill>
                <a:latin typeface="Roboto"/>
                <a:ea typeface="Roboto"/>
                <a:cs typeface="Roboto"/>
                <a:sym typeface="Roboto"/>
              </a:rPr>
              <a:t>Hệ thống phân tích câu lệnh và thực hiện 4 loại thao tác chỉnh sửa trên đối tượng</a:t>
            </a:r>
            <a:endParaRPr sz="125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03" name="Google Shape;203;p30"/>
          <p:cNvCxnSpPr/>
          <p:nvPr/>
        </p:nvCxnSpPr>
        <p:spPr>
          <a:xfrm>
            <a:off x="411480" y="1024128"/>
            <a:ext cx="8321100" cy="0"/>
          </a:xfrm>
          <a:prstGeom prst="straightConnector1">
            <a:avLst/>
          </a:prstGeom>
          <a:noFill/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4" name="Google Shape;204;p30"/>
          <p:cNvSpPr/>
          <p:nvPr/>
        </p:nvSpPr>
        <p:spPr>
          <a:xfrm>
            <a:off x="215938" y="1152425"/>
            <a:ext cx="2100000" cy="3459600"/>
          </a:xfrm>
          <a:prstGeom prst="rect">
            <a:avLst/>
          </a:prstGeom>
          <a:solidFill>
            <a:srgbClr val="FFFFFF"/>
          </a:solidFill>
          <a:ln cap="flat" cmpd="sng" w="139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50000" lIns="99950" spcFirstLastPara="1" rIns="99950" wrap="square" tIns="50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68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30"/>
          <p:cNvSpPr/>
          <p:nvPr/>
        </p:nvSpPr>
        <p:spPr>
          <a:xfrm>
            <a:off x="215938" y="1152425"/>
            <a:ext cx="2100000" cy="720000"/>
          </a:xfrm>
          <a:prstGeom prst="rect">
            <a:avLst/>
          </a:prstGeom>
          <a:solidFill>
            <a:srgbClr val="F0FDF4"/>
          </a:solidFill>
          <a:ln cap="flat" cmpd="sng" w="13900">
            <a:solidFill>
              <a:srgbClr val="86EF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50000" lIns="99950" spcFirstLastPara="1" rIns="99950" wrap="square" tIns="50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68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30"/>
          <p:cNvSpPr/>
          <p:nvPr/>
        </p:nvSpPr>
        <p:spPr>
          <a:xfrm>
            <a:off x="215938" y="1202418"/>
            <a:ext cx="21000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00" lIns="99950" spcFirstLastPara="1" rIns="99950" wrap="square" tIns="50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2843"/>
              <a:buFont typeface="Arial"/>
              <a:buNone/>
            </a:pPr>
            <a:r>
              <a:rPr b="1" lang="en" sz="2843">
                <a:solidFill>
                  <a:srgbClr val="16A34A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 sz="284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30"/>
          <p:cNvSpPr/>
          <p:nvPr/>
        </p:nvSpPr>
        <p:spPr>
          <a:xfrm>
            <a:off x="295927" y="1942320"/>
            <a:ext cx="19398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00" lIns="99950" spcFirstLastPara="1" rIns="99950" wrap="square" tIns="50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1531"/>
              <a:buFont typeface="Calibri"/>
              <a:buNone/>
            </a:pPr>
            <a:r>
              <a:rPr b="1" lang="en" sz="1531">
                <a:solidFill>
                  <a:srgbClr val="16A34A"/>
                </a:solidFill>
                <a:latin typeface="Roboto"/>
                <a:ea typeface="Roboto"/>
                <a:cs typeface="Roboto"/>
                <a:sym typeface="Roboto"/>
              </a:rPr>
              <a:t>ADD</a:t>
            </a:r>
            <a:endParaRPr sz="153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8" name="Google Shape;208;p30"/>
          <p:cNvSpPr/>
          <p:nvPr/>
        </p:nvSpPr>
        <p:spPr>
          <a:xfrm>
            <a:off x="295927" y="2252278"/>
            <a:ext cx="1939800" cy="25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00" lIns="99950" spcFirstLastPara="1" rIns="99950" wrap="square" tIns="50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39"/>
              <a:buFont typeface="Calibri"/>
              <a:buNone/>
            </a:pPr>
            <a:r>
              <a:rPr lang="en" sz="1039">
                <a:solidFill>
                  <a:srgbClr val="6B7280"/>
                </a:solidFill>
                <a:latin typeface="Roboto"/>
                <a:ea typeface="Roboto"/>
                <a:cs typeface="Roboto"/>
                <a:sym typeface="Roboto"/>
              </a:rPr>
              <a:t>Thêm đối tượng</a:t>
            </a:r>
            <a:endParaRPr sz="1039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09" name="Google Shape;209;p30"/>
          <p:cNvCxnSpPr/>
          <p:nvPr/>
        </p:nvCxnSpPr>
        <p:spPr>
          <a:xfrm>
            <a:off x="415911" y="2552238"/>
            <a:ext cx="1700100" cy="0"/>
          </a:xfrm>
          <a:prstGeom prst="straightConnector1">
            <a:avLst/>
          </a:prstGeom>
          <a:noFill/>
          <a:ln cap="flat" cmpd="sng" w="104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0" name="Google Shape;210;p30"/>
          <p:cNvSpPr/>
          <p:nvPr/>
        </p:nvSpPr>
        <p:spPr>
          <a:xfrm>
            <a:off x="295927" y="2622229"/>
            <a:ext cx="1939800" cy="21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00" lIns="99950" spcFirstLastPara="1" rIns="99950" wrap="square" tIns="50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84"/>
              <a:buFont typeface="Calibri"/>
              <a:buNone/>
            </a:pPr>
            <a:r>
              <a:rPr b="1" lang="en" sz="984">
                <a:solidFill>
                  <a:srgbClr val="6B7280"/>
                </a:solidFill>
                <a:latin typeface="Roboto"/>
                <a:ea typeface="Roboto"/>
                <a:cs typeface="Roboto"/>
                <a:sym typeface="Roboto"/>
              </a:rPr>
              <a:t>Ví dụ câu lệnh:</a:t>
            </a:r>
            <a:endParaRPr sz="984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1" name="Google Shape;211;p30"/>
          <p:cNvSpPr/>
          <p:nvPr/>
        </p:nvSpPr>
        <p:spPr>
          <a:xfrm>
            <a:off x="295927" y="2852198"/>
            <a:ext cx="19398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50000" lIns="99950" spcFirstLastPara="1" rIns="99950" wrap="square" tIns="50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84"/>
              <a:buFont typeface="Calibri"/>
              <a:buNone/>
            </a:pPr>
            <a:r>
              <a:rPr i="1" lang="en" sz="984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rPr>
              <a:t>"Add a red umbrella</a:t>
            </a:r>
            <a:endParaRPr sz="984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84"/>
              <a:buFont typeface="Calibri"/>
              <a:buNone/>
            </a:pPr>
            <a:r>
              <a:rPr i="1" lang="en" sz="984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rPr>
              <a:t>next to the person"</a:t>
            </a:r>
            <a:endParaRPr sz="984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12" name="Google Shape;212;p30"/>
          <p:cNvCxnSpPr/>
          <p:nvPr/>
        </p:nvCxnSpPr>
        <p:spPr>
          <a:xfrm>
            <a:off x="415911" y="3612097"/>
            <a:ext cx="1700100" cy="0"/>
          </a:xfrm>
          <a:prstGeom prst="straightConnector1">
            <a:avLst/>
          </a:prstGeom>
          <a:noFill/>
          <a:ln cap="flat" cmpd="sng" w="104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3" name="Google Shape;213;p30"/>
          <p:cNvSpPr/>
          <p:nvPr/>
        </p:nvSpPr>
        <p:spPr>
          <a:xfrm>
            <a:off x="215950" y="3692075"/>
            <a:ext cx="2063100" cy="8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50000" lIns="99950" spcFirstLastPara="1" rIns="99950" wrap="square" tIns="50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84"/>
              <a:buFont typeface="Calibri"/>
              <a:buNone/>
            </a:pPr>
            <a:r>
              <a:rPr lang="en" sz="984">
                <a:solidFill>
                  <a:srgbClr val="6B7280"/>
                </a:solidFill>
                <a:latin typeface="Roboto"/>
                <a:ea typeface="Roboto"/>
                <a:cs typeface="Roboto"/>
                <a:sym typeface="Roboto"/>
              </a:rPr>
              <a:t>Thêm object mới vào vùng trống</a:t>
            </a:r>
            <a:endParaRPr sz="984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4" name="Google Shape;214;p30"/>
          <p:cNvSpPr/>
          <p:nvPr/>
        </p:nvSpPr>
        <p:spPr>
          <a:xfrm>
            <a:off x="2445637" y="1152425"/>
            <a:ext cx="2100000" cy="3459600"/>
          </a:xfrm>
          <a:prstGeom prst="rect">
            <a:avLst/>
          </a:prstGeom>
          <a:solidFill>
            <a:srgbClr val="FFFFFF"/>
          </a:solidFill>
          <a:ln cap="flat" cmpd="sng" w="139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50000" lIns="99950" spcFirstLastPara="1" rIns="99950" wrap="square" tIns="50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68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30"/>
          <p:cNvSpPr/>
          <p:nvPr/>
        </p:nvSpPr>
        <p:spPr>
          <a:xfrm>
            <a:off x="2445637" y="1152425"/>
            <a:ext cx="2100000" cy="720000"/>
          </a:xfrm>
          <a:prstGeom prst="rect">
            <a:avLst/>
          </a:prstGeom>
          <a:solidFill>
            <a:srgbClr val="FEF2F2"/>
          </a:solidFill>
          <a:ln cap="flat" cmpd="sng" w="13900">
            <a:solidFill>
              <a:srgbClr val="FC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50000" lIns="99950" spcFirstLastPara="1" rIns="99950" wrap="square" tIns="50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68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30"/>
          <p:cNvSpPr/>
          <p:nvPr/>
        </p:nvSpPr>
        <p:spPr>
          <a:xfrm>
            <a:off x="2445637" y="1202418"/>
            <a:ext cx="21000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00" lIns="99950" spcFirstLastPara="1" rIns="99950" wrap="square" tIns="50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2843"/>
              <a:buFont typeface="Arial"/>
              <a:buNone/>
            </a:pPr>
            <a:r>
              <a:rPr b="1" lang="en" sz="2843">
                <a:solidFill>
                  <a:srgbClr val="DC2626"/>
                </a:solidFill>
                <a:latin typeface="Arial"/>
                <a:ea typeface="Arial"/>
                <a:cs typeface="Arial"/>
                <a:sym typeface="Arial"/>
              </a:rPr>
              <a:t>−</a:t>
            </a:r>
            <a:endParaRPr sz="284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30"/>
          <p:cNvSpPr/>
          <p:nvPr/>
        </p:nvSpPr>
        <p:spPr>
          <a:xfrm>
            <a:off x="2525626" y="1942320"/>
            <a:ext cx="19398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00" lIns="99950" spcFirstLastPara="1" rIns="99950" wrap="square" tIns="50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531"/>
              <a:buFont typeface="Calibri"/>
              <a:buNone/>
            </a:pPr>
            <a:r>
              <a:rPr b="1" lang="en" sz="1531">
                <a:solidFill>
                  <a:srgbClr val="DC2626"/>
                </a:solidFill>
                <a:latin typeface="Roboto"/>
                <a:ea typeface="Roboto"/>
                <a:cs typeface="Roboto"/>
                <a:sym typeface="Roboto"/>
              </a:rPr>
              <a:t>REMOVE</a:t>
            </a:r>
            <a:endParaRPr sz="153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8" name="Google Shape;218;p30"/>
          <p:cNvSpPr/>
          <p:nvPr/>
        </p:nvSpPr>
        <p:spPr>
          <a:xfrm>
            <a:off x="2525626" y="2252278"/>
            <a:ext cx="1939800" cy="25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00" lIns="99950" spcFirstLastPara="1" rIns="99950" wrap="square" tIns="50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39"/>
              <a:buFont typeface="Calibri"/>
              <a:buNone/>
            </a:pPr>
            <a:r>
              <a:rPr lang="en" sz="1039">
                <a:solidFill>
                  <a:srgbClr val="6B7280"/>
                </a:solidFill>
                <a:latin typeface="Roboto"/>
                <a:ea typeface="Roboto"/>
                <a:cs typeface="Roboto"/>
                <a:sym typeface="Roboto"/>
              </a:rPr>
              <a:t>Xóa đối tượng</a:t>
            </a:r>
            <a:endParaRPr sz="1039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19" name="Google Shape;219;p30"/>
          <p:cNvCxnSpPr/>
          <p:nvPr/>
        </p:nvCxnSpPr>
        <p:spPr>
          <a:xfrm>
            <a:off x="2645610" y="2552238"/>
            <a:ext cx="1700100" cy="0"/>
          </a:xfrm>
          <a:prstGeom prst="straightConnector1">
            <a:avLst/>
          </a:prstGeom>
          <a:noFill/>
          <a:ln cap="flat" cmpd="sng" w="104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0" name="Google Shape;220;p30"/>
          <p:cNvSpPr/>
          <p:nvPr/>
        </p:nvSpPr>
        <p:spPr>
          <a:xfrm>
            <a:off x="2525626" y="2622229"/>
            <a:ext cx="1939800" cy="21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00" lIns="99950" spcFirstLastPara="1" rIns="99950" wrap="square" tIns="50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84"/>
              <a:buFont typeface="Calibri"/>
              <a:buNone/>
            </a:pPr>
            <a:r>
              <a:rPr b="1" lang="en" sz="984">
                <a:solidFill>
                  <a:srgbClr val="6B7280"/>
                </a:solidFill>
                <a:latin typeface="Roboto"/>
                <a:ea typeface="Roboto"/>
                <a:cs typeface="Roboto"/>
                <a:sym typeface="Roboto"/>
              </a:rPr>
              <a:t>Ví dụ câu lệnh:</a:t>
            </a:r>
            <a:endParaRPr sz="984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1" name="Google Shape;221;p30"/>
          <p:cNvSpPr/>
          <p:nvPr/>
        </p:nvSpPr>
        <p:spPr>
          <a:xfrm>
            <a:off x="2525626" y="2852198"/>
            <a:ext cx="19398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50000" lIns="99950" spcFirstLastPara="1" rIns="99950" wrap="square" tIns="50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84"/>
              <a:buFont typeface="Calibri"/>
              <a:buNone/>
            </a:pPr>
            <a:r>
              <a:rPr i="1" lang="en" sz="984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rPr>
              <a:t>"Remove the car</a:t>
            </a:r>
            <a:endParaRPr sz="984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84"/>
              <a:buFont typeface="Calibri"/>
              <a:buNone/>
            </a:pPr>
            <a:r>
              <a:rPr i="1" lang="en" sz="984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rPr>
              <a:t>from the road"</a:t>
            </a:r>
            <a:endParaRPr sz="984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22" name="Google Shape;222;p30"/>
          <p:cNvCxnSpPr/>
          <p:nvPr/>
        </p:nvCxnSpPr>
        <p:spPr>
          <a:xfrm>
            <a:off x="2645610" y="3612097"/>
            <a:ext cx="1700100" cy="0"/>
          </a:xfrm>
          <a:prstGeom prst="straightConnector1">
            <a:avLst/>
          </a:prstGeom>
          <a:noFill/>
          <a:ln cap="flat" cmpd="sng" w="104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3" name="Google Shape;223;p30"/>
          <p:cNvSpPr/>
          <p:nvPr/>
        </p:nvSpPr>
        <p:spPr>
          <a:xfrm>
            <a:off x="2445625" y="3692075"/>
            <a:ext cx="2063100" cy="8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50000" lIns="99950" spcFirstLastPara="1" rIns="99950" wrap="square" tIns="50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84"/>
              <a:buFont typeface="Calibri"/>
              <a:buNone/>
            </a:pPr>
            <a:r>
              <a:rPr lang="en" sz="984">
                <a:solidFill>
                  <a:srgbClr val="6B7280"/>
                </a:solidFill>
                <a:latin typeface="Roboto"/>
                <a:ea typeface="Roboto"/>
                <a:cs typeface="Roboto"/>
                <a:sym typeface="Roboto"/>
              </a:rPr>
              <a:t>Xóa object, phục hồi background</a:t>
            </a:r>
            <a:endParaRPr sz="984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4" name="Google Shape;224;p30"/>
          <p:cNvSpPr/>
          <p:nvPr/>
        </p:nvSpPr>
        <p:spPr>
          <a:xfrm>
            <a:off x="4675336" y="1152425"/>
            <a:ext cx="2100000" cy="3459600"/>
          </a:xfrm>
          <a:prstGeom prst="rect">
            <a:avLst/>
          </a:prstGeom>
          <a:solidFill>
            <a:srgbClr val="FFFFFF"/>
          </a:solidFill>
          <a:ln cap="flat" cmpd="sng" w="139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50000" lIns="99950" spcFirstLastPara="1" rIns="99950" wrap="square" tIns="50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68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30"/>
          <p:cNvSpPr/>
          <p:nvPr/>
        </p:nvSpPr>
        <p:spPr>
          <a:xfrm>
            <a:off x="4675336" y="1152425"/>
            <a:ext cx="2100000" cy="720000"/>
          </a:xfrm>
          <a:prstGeom prst="rect">
            <a:avLst/>
          </a:prstGeom>
          <a:solidFill>
            <a:srgbClr val="EFF6FF"/>
          </a:solidFill>
          <a:ln cap="flat" cmpd="sng" w="13900">
            <a:solidFill>
              <a:srgbClr val="7DD3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50000" lIns="99950" spcFirstLastPara="1" rIns="99950" wrap="square" tIns="50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68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30"/>
          <p:cNvSpPr/>
          <p:nvPr/>
        </p:nvSpPr>
        <p:spPr>
          <a:xfrm>
            <a:off x="4675336" y="1202418"/>
            <a:ext cx="21000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00" lIns="99950" spcFirstLastPara="1" rIns="99950" wrap="square" tIns="50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2843"/>
              <a:buFont typeface="Arial"/>
              <a:buNone/>
            </a:pPr>
            <a:r>
              <a:rPr b="1" lang="en" sz="2843">
                <a:solidFill>
                  <a:srgbClr val="0891B2"/>
                </a:solidFill>
                <a:latin typeface="Arial"/>
                <a:ea typeface="Arial"/>
                <a:cs typeface="Arial"/>
                <a:sym typeface="Arial"/>
              </a:rPr>
              <a:t>◑</a:t>
            </a:r>
            <a:endParaRPr sz="284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30"/>
          <p:cNvSpPr/>
          <p:nvPr/>
        </p:nvSpPr>
        <p:spPr>
          <a:xfrm>
            <a:off x="4755325" y="1942320"/>
            <a:ext cx="19398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00" lIns="99950" spcFirstLastPara="1" rIns="99950" wrap="square" tIns="50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531"/>
              <a:buFont typeface="Calibri"/>
              <a:buNone/>
            </a:pPr>
            <a:r>
              <a:rPr b="1" lang="en" sz="1531">
                <a:solidFill>
                  <a:srgbClr val="0891B2"/>
                </a:solidFill>
                <a:latin typeface="Roboto"/>
                <a:ea typeface="Roboto"/>
                <a:cs typeface="Roboto"/>
                <a:sym typeface="Roboto"/>
              </a:rPr>
              <a:t>RECOLOR</a:t>
            </a:r>
            <a:endParaRPr sz="153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8" name="Google Shape;228;p30"/>
          <p:cNvSpPr/>
          <p:nvPr/>
        </p:nvSpPr>
        <p:spPr>
          <a:xfrm>
            <a:off x="4755325" y="2252278"/>
            <a:ext cx="1939800" cy="25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00" lIns="99950" spcFirstLastPara="1" rIns="99950" wrap="square" tIns="50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39"/>
              <a:buFont typeface="Calibri"/>
              <a:buNone/>
            </a:pPr>
            <a:r>
              <a:rPr lang="en" sz="1039">
                <a:solidFill>
                  <a:srgbClr val="6B7280"/>
                </a:solidFill>
                <a:latin typeface="Roboto"/>
                <a:ea typeface="Roboto"/>
                <a:cs typeface="Roboto"/>
                <a:sym typeface="Roboto"/>
              </a:rPr>
              <a:t>Đổi màu sắc</a:t>
            </a:r>
            <a:endParaRPr sz="1039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29" name="Google Shape;229;p30"/>
          <p:cNvCxnSpPr/>
          <p:nvPr/>
        </p:nvCxnSpPr>
        <p:spPr>
          <a:xfrm>
            <a:off x="4875309" y="2552238"/>
            <a:ext cx="1700100" cy="0"/>
          </a:xfrm>
          <a:prstGeom prst="straightConnector1">
            <a:avLst/>
          </a:prstGeom>
          <a:noFill/>
          <a:ln cap="flat" cmpd="sng" w="104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0" name="Google Shape;230;p30"/>
          <p:cNvSpPr/>
          <p:nvPr/>
        </p:nvSpPr>
        <p:spPr>
          <a:xfrm>
            <a:off x="4755325" y="2622229"/>
            <a:ext cx="1939800" cy="21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00" lIns="99950" spcFirstLastPara="1" rIns="99950" wrap="square" tIns="50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84"/>
              <a:buFont typeface="Calibri"/>
              <a:buNone/>
            </a:pPr>
            <a:r>
              <a:rPr b="1" lang="en" sz="984">
                <a:solidFill>
                  <a:srgbClr val="6B7280"/>
                </a:solidFill>
                <a:latin typeface="Roboto"/>
                <a:ea typeface="Roboto"/>
                <a:cs typeface="Roboto"/>
                <a:sym typeface="Roboto"/>
              </a:rPr>
              <a:t>Ví dụ câu lệnh:</a:t>
            </a:r>
            <a:endParaRPr sz="984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1" name="Google Shape;231;p30"/>
          <p:cNvSpPr/>
          <p:nvPr/>
        </p:nvSpPr>
        <p:spPr>
          <a:xfrm>
            <a:off x="4755325" y="2852198"/>
            <a:ext cx="19398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50000" lIns="99950" spcFirstLastPara="1" rIns="99950" wrap="square" tIns="50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84"/>
              <a:buFont typeface="Calibri"/>
              <a:buNone/>
            </a:pPr>
            <a:r>
              <a:rPr i="1" lang="en" sz="984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rPr>
              <a:t>"Turn the shirt</a:t>
            </a:r>
            <a:endParaRPr sz="984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84"/>
              <a:buFont typeface="Calibri"/>
              <a:buNone/>
            </a:pPr>
            <a:r>
              <a:rPr i="1" lang="en" sz="984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rPr>
              <a:t>blue"</a:t>
            </a:r>
            <a:endParaRPr sz="984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32" name="Google Shape;232;p30"/>
          <p:cNvCxnSpPr/>
          <p:nvPr/>
        </p:nvCxnSpPr>
        <p:spPr>
          <a:xfrm>
            <a:off x="4875309" y="3612097"/>
            <a:ext cx="1700100" cy="0"/>
          </a:xfrm>
          <a:prstGeom prst="straightConnector1">
            <a:avLst/>
          </a:prstGeom>
          <a:noFill/>
          <a:ln cap="flat" cmpd="sng" w="104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3" name="Google Shape;233;p30"/>
          <p:cNvSpPr/>
          <p:nvPr/>
        </p:nvSpPr>
        <p:spPr>
          <a:xfrm>
            <a:off x="4755325" y="3692087"/>
            <a:ext cx="1939800" cy="8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50000" lIns="99950" spcFirstLastPara="1" rIns="99950" wrap="square" tIns="50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84"/>
              <a:buFont typeface="Calibri"/>
              <a:buNone/>
            </a:pPr>
            <a:r>
              <a:rPr lang="en" sz="984">
                <a:solidFill>
                  <a:srgbClr val="6B7280"/>
                </a:solidFill>
                <a:latin typeface="Roboto"/>
                <a:ea typeface="Roboto"/>
                <a:cs typeface="Roboto"/>
                <a:sym typeface="Roboto"/>
              </a:rPr>
              <a:t>Đổi màu, giữ nguyên hình dạng</a:t>
            </a:r>
            <a:endParaRPr sz="984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4" name="Google Shape;234;p30"/>
          <p:cNvSpPr/>
          <p:nvPr/>
        </p:nvSpPr>
        <p:spPr>
          <a:xfrm>
            <a:off x="6905034" y="1152425"/>
            <a:ext cx="2100000" cy="3459600"/>
          </a:xfrm>
          <a:prstGeom prst="rect">
            <a:avLst/>
          </a:prstGeom>
          <a:solidFill>
            <a:srgbClr val="FFFFFF"/>
          </a:solidFill>
          <a:ln cap="flat" cmpd="sng" w="139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50000" lIns="99950" spcFirstLastPara="1" rIns="99950" wrap="square" tIns="50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68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30"/>
          <p:cNvSpPr/>
          <p:nvPr/>
        </p:nvSpPr>
        <p:spPr>
          <a:xfrm>
            <a:off x="6905034" y="1152425"/>
            <a:ext cx="2100000" cy="720000"/>
          </a:xfrm>
          <a:prstGeom prst="rect">
            <a:avLst/>
          </a:prstGeom>
          <a:solidFill>
            <a:srgbClr val="F5F3FF"/>
          </a:solidFill>
          <a:ln cap="flat" cmpd="sng" w="13900">
            <a:solidFill>
              <a:srgbClr val="C4B5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50000" lIns="99950" spcFirstLastPara="1" rIns="99950" wrap="square" tIns="50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68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30"/>
          <p:cNvSpPr/>
          <p:nvPr/>
        </p:nvSpPr>
        <p:spPr>
          <a:xfrm>
            <a:off x="6905034" y="1202418"/>
            <a:ext cx="21000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00" lIns="99950" spcFirstLastPara="1" rIns="99950" wrap="square" tIns="50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2843"/>
              <a:buFont typeface="Arial"/>
              <a:buNone/>
            </a:pPr>
            <a:r>
              <a:rPr b="1" lang="en" sz="2843">
                <a:solidFill>
                  <a:srgbClr val="7C3AED"/>
                </a:solidFill>
                <a:latin typeface="Arial"/>
                <a:ea typeface="Arial"/>
                <a:cs typeface="Arial"/>
                <a:sym typeface="Arial"/>
              </a:rPr>
              <a:t>★</a:t>
            </a:r>
            <a:endParaRPr sz="284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30"/>
          <p:cNvSpPr/>
          <p:nvPr/>
        </p:nvSpPr>
        <p:spPr>
          <a:xfrm>
            <a:off x="6985024" y="1942320"/>
            <a:ext cx="19398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00" lIns="99950" spcFirstLastPara="1" rIns="99950" wrap="square" tIns="50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531"/>
              <a:buFont typeface="Calibri"/>
              <a:buNone/>
            </a:pPr>
            <a:r>
              <a:rPr b="1" lang="en" sz="1531">
                <a:solidFill>
                  <a:srgbClr val="7C3AED"/>
                </a:solidFill>
                <a:latin typeface="Roboto"/>
                <a:ea typeface="Roboto"/>
                <a:cs typeface="Roboto"/>
                <a:sym typeface="Roboto"/>
              </a:rPr>
              <a:t>RESTYLE</a:t>
            </a:r>
            <a:endParaRPr sz="153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8" name="Google Shape;238;p30"/>
          <p:cNvSpPr/>
          <p:nvPr/>
        </p:nvSpPr>
        <p:spPr>
          <a:xfrm>
            <a:off x="6985024" y="2252278"/>
            <a:ext cx="1939800" cy="25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00" lIns="99950" spcFirstLastPara="1" rIns="99950" wrap="square" tIns="50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39"/>
              <a:buFont typeface="Calibri"/>
              <a:buNone/>
            </a:pPr>
            <a:r>
              <a:rPr lang="en" sz="1039">
                <a:solidFill>
                  <a:srgbClr val="6B7280"/>
                </a:solidFill>
                <a:latin typeface="Roboto"/>
                <a:ea typeface="Roboto"/>
                <a:cs typeface="Roboto"/>
                <a:sym typeface="Roboto"/>
              </a:rPr>
              <a:t>Đổi phong cách</a:t>
            </a:r>
            <a:endParaRPr sz="1039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39" name="Google Shape;239;p30"/>
          <p:cNvCxnSpPr/>
          <p:nvPr/>
        </p:nvCxnSpPr>
        <p:spPr>
          <a:xfrm>
            <a:off x="7105007" y="2552238"/>
            <a:ext cx="1700100" cy="0"/>
          </a:xfrm>
          <a:prstGeom prst="straightConnector1">
            <a:avLst/>
          </a:prstGeom>
          <a:noFill/>
          <a:ln cap="flat" cmpd="sng" w="104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0" name="Google Shape;240;p30"/>
          <p:cNvSpPr/>
          <p:nvPr/>
        </p:nvSpPr>
        <p:spPr>
          <a:xfrm>
            <a:off x="6985024" y="2622229"/>
            <a:ext cx="1939800" cy="21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00" lIns="99950" spcFirstLastPara="1" rIns="99950" wrap="square" tIns="50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84"/>
              <a:buFont typeface="Calibri"/>
              <a:buNone/>
            </a:pPr>
            <a:r>
              <a:rPr b="1" lang="en" sz="984">
                <a:solidFill>
                  <a:srgbClr val="6B7280"/>
                </a:solidFill>
                <a:latin typeface="Roboto"/>
                <a:ea typeface="Roboto"/>
                <a:cs typeface="Roboto"/>
                <a:sym typeface="Roboto"/>
              </a:rPr>
              <a:t>Ví dụ câu lệnh:</a:t>
            </a:r>
            <a:endParaRPr sz="984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1" name="Google Shape;241;p30"/>
          <p:cNvSpPr/>
          <p:nvPr/>
        </p:nvSpPr>
        <p:spPr>
          <a:xfrm>
            <a:off x="6985024" y="2852198"/>
            <a:ext cx="19398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50000" lIns="99950" spcFirstLastPara="1" rIns="99950" wrap="square" tIns="50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84"/>
              <a:buFont typeface="Calibri"/>
              <a:buNone/>
            </a:pPr>
            <a:r>
              <a:rPr i="1" lang="en" sz="984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rPr>
              <a:t>"Make it like</a:t>
            </a:r>
            <a:endParaRPr sz="984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84"/>
              <a:buFont typeface="Calibri"/>
              <a:buNone/>
            </a:pPr>
            <a:r>
              <a:rPr i="1" lang="en" sz="984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rPr>
              <a:t>a watercolor painting"</a:t>
            </a:r>
            <a:endParaRPr sz="984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42" name="Google Shape;242;p30"/>
          <p:cNvCxnSpPr/>
          <p:nvPr/>
        </p:nvCxnSpPr>
        <p:spPr>
          <a:xfrm>
            <a:off x="7105007" y="3612097"/>
            <a:ext cx="1700100" cy="0"/>
          </a:xfrm>
          <a:prstGeom prst="straightConnector1">
            <a:avLst/>
          </a:prstGeom>
          <a:noFill/>
          <a:ln cap="flat" cmpd="sng" w="104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3" name="Google Shape;243;p30"/>
          <p:cNvSpPr/>
          <p:nvPr/>
        </p:nvSpPr>
        <p:spPr>
          <a:xfrm>
            <a:off x="6985024" y="3692087"/>
            <a:ext cx="1939800" cy="8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50000" lIns="99950" spcFirstLastPara="1" rIns="99950" wrap="square" tIns="50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84"/>
              <a:buFont typeface="Calibri"/>
              <a:buNone/>
            </a:pPr>
            <a:r>
              <a:rPr lang="en" sz="984">
                <a:solidFill>
                  <a:srgbClr val="6B7280"/>
                </a:solidFill>
                <a:latin typeface="Roboto"/>
                <a:ea typeface="Roboto"/>
                <a:cs typeface="Roboto"/>
                <a:sym typeface="Roboto"/>
              </a:rPr>
              <a:t>Thay đổi style/texture</a:t>
            </a:r>
            <a:endParaRPr sz="984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1"/>
          <p:cNvSpPr txBox="1"/>
          <p:nvPr>
            <p:ph type="title"/>
          </p:nvPr>
        </p:nvSpPr>
        <p:spPr>
          <a:xfrm>
            <a:off x="471900" y="57875"/>
            <a:ext cx="8222100" cy="67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en"/>
              <a:t>Mục tiêu</a:t>
            </a:r>
            <a:endParaRPr/>
          </a:p>
        </p:txBody>
      </p:sp>
      <p:sp>
        <p:nvSpPr>
          <p:cNvPr id="249" name="Google Shape;249;p31"/>
          <p:cNvSpPr txBox="1"/>
          <p:nvPr>
            <p:ph idx="1" type="body"/>
          </p:nvPr>
        </p:nvSpPr>
        <p:spPr>
          <a:xfrm>
            <a:off x="471900" y="820500"/>
            <a:ext cx="8222100" cy="39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1950" lvl="0" marL="45720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SzPts val="2100"/>
              <a:buFont typeface="Arial"/>
              <a:buChar char="●"/>
            </a:pPr>
            <a:r>
              <a:rPr lang="en" sz="2100"/>
              <a:t>MT1: Xây dựng pipeline 3 giai đoạn (LLM → GroundedSAM → PowerPaint) xử lý 4 loại hướng dẫn (ADD / REMOVE / RECOLOR / RESTYLE), thời gian &lt; 30s/ảnh trên GPU</a:t>
            </a:r>
            <a:endParaRPr sz="2100"/>
          </a:p>
          <a:p>
            <a:pPr indent="-361950" lvl="0" marL="45720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SzPts val="2100"/>
              <a:buFont typeface="Arial"/>
              <a:buChar char="●"/>
            </a:pPr>
            <a:r>
              <a:rPr lang="en" sz="2100"/>
              <a:t>MT2: Vượt baseline InstructPix2Pix [1] trên ít nhất 3 trong 5 chỉ số đánh giá: L1, L2, CLIP-I, DINO và CLIP-T trên tập test MagicBrush [8]</a:t>
            </a:r>
            <a:endParaRPr sz="2100"/>
          </a:p>
          <a:p>
            <a:pPr indent="-361950" lvl="0" marL="45720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SzPts val="2100"/>
              <a:buFont typeface="Arial"/>
              <a:buChar char="●"/>
            </a:pPr>
            <a:r>
              <a:rPr lang="en" sz="2100"/>
              <a:t>MT3: Phân tích kết quả từng chỉ số (L1, L2, CLIP-I, DINO, CLIP-T) theo từng loại hướng dẫn (ADD / REMOVE / RECOLOR / RESTYLE), xác định loại hướng dẫn có hiệu suất thấp nhất và đề xuất hướng cải tiến cụ thể</a:t>
            </a:r>
            <a:endParaRPr sz="2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2"/>
          <p:cNvSpPr txBox="1"/>
          <p:nvPr>
            <p:ph type="title"/>
          </p:nvPr>
        </p:nvSpPr>
        <p:spPr>
          <a:xfrm>
            <a:off x="471900" y="57875"/>
            <a:ext cx="8222100" cy="67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en"/>
              <a:t>Nội dung và Phương pháp</a:t>
            </a:r>
            <a:endParaRPr/>
          </a:p>
        </p:txBody>
      </p:sp>
      <p:sp>
        <p:nvSpPr>
          <p:cNvPr id="255" name="Google Shape;255;p32"/>
          <p:cNvSpPr txBox="1"/>
          <p:nvPr>
            <p:ph idx="1" type="body"/>
          </p:nvPr>
        </p:nvSpPr>
        <p:spPr>
          <a:xfrm>
            <a:off x="534950" y="829500"/>
            <a:ext cx="8222100" cy="25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SzPts val="1600"/>
              <a:buFont typeface="Arial"/>
              <a:buChar char="●"/>
            </a:pPr>
            <a:r>
              <a:rPr lang="en" sz="1600"/>
              <a:t>Khảo sát: GAN-based (StyleCLIP, VQGAN-CLIP), Diffusion toàn cục (IP2P [1]), Segmentation + Inpainting cục bộ</a:t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SzPts val="1600"/>
              <a:buFont typeface="Arial"/>
              <a:buChar char="●"/>
            </a:pPr>
            <a:r>
              <a:rPr lang="en" sz="1600"/>
              <a:t>Thiết kế pipeline: Hướng dẫn → LLM [7] → {action, object, attribute} → GroundedSAM [2][3] → mask → PowerPaint [5] → ảnh kết quả</a:t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SzPts val="1600"/>
              <a:buFont typeface="Arial"/>
              <a:buChar char="●"/>
            </a:pPr>
            <a:r>
              <a:rPr lang="en" sz="1600"/>
              <a:t>Triển khai: LLM few-shot, Grounding DINO confidence 0.3, SAM box prompt, Poisson blending chống viền cứng</a:t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SzPts val="1600"/>
              <a:buFont typeface="Arial"/>
              <a:buChar char="●"/>
            </a:pPr>
            <a:r>
              <a:rPr lang="en" sz="1600"/>
              <a:t>Đánh giá: tập test MagicBrush [8], đo L1 / L2 / CLIP-I / DINO / CLIP-T, so sánh baseline InstructPix2Pix [1]</a:t>
            </a:r>
            <a:endParaRPr sz="2000"/>
          </a:p>
        </p:txBody>
      </p:sp>
      <p:pic>
        <p:nvPicPr>
          <p:cNvPr id="256" name="Google Shape;256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86425" y="3215825"/>
            <a:ext cx="6256901" cy="1531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3"/>
          <p:cNvSpPr txBox="1"/>
          <p:nvPr>
            <p:ph type="title"/>
          </p:nvPr>
        </p:nvSpPr>
        <p:spPr>
          <a:xfrm>
            <a:off x="471900" y="57875"/>
            <a:ext cx="8222100" cy="67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en"/>
              <a:t>Nội dung và Phương pháp</a:t>
            </a:r>
            <a:endParaRPr/>
          </a:p>
        </p:txBody>
      </p:sp>
      <p:pic>
        <p:nvPicPr>
          <p:cNvPr id="262" name="Google Shape;262;p33"/>
          <p:cNvPicPr preferRelativeResize="0"/>
          <p:nvPr/>
        </p:nvPicPr>
        <p:blipFill rotWithShape="1">
          <a:blip r:embed="rId3">
            <a:alphaModFix/>
          </a:blip>
          <a:srcRect b="1353" l="0" r="0" t="1343"/>
          <a:stretch/>
        </p:blipFill>
        <p:spPr>
          <a:xfrm>
            <a:off x="997250" y="773400"/>
            <a:ext cx="7344051" cy="4021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4"/>
          <p:cNvSpPr txBox="1"/>
          <p:nvPr>
            <p:ph type="title"/>
          </p:nvPr>
        </p:nvSpPr>
        <p:spPr>
          <a:xfrm>
            <a:off x="471900" y="57875"/>
            <a:ext cx="8222100" cy="67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en"/>
              <a:t>Kết quả dự kiến</a:t>
            </a:r>
            <a:endParaRPr/>
          </a:p>
        </p:txBody>
      </p:sp>
      <p:sp>
        <p:nvSpPr>
          <p:cNvPr id="268" name="Google Shape;268;p34"/>
          <p:cNvSpPr txBox="1"/>
          <p:nvPr>
            <p:ph idx="1" type="body"/>
          </p:nvPr>
        </p:nvSpPr>
        <p:spPr>
          <a:xfrm>
            <a:off x="471900" y="820500"/>
            <a:ext cx="8222100" cy="39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SzPts val="2200"/>
              <a:buFont typeface="Arial"/>
              <a:buChar char="●"/>
            </a:pPr>
            <a:r>
              <a:rPr lang="en"/>
              <a:t>Pipeline end-to-end hoàn chỉnh: xử lý 4 loại hướng dẫn, thời gian &lt; 30s/ảnh trên GPU phổ thông</a:t>
            </a:r>
            <a:endParaRPr/>
          </a:p>
          <a:p>
            <a:pPr indent="-368300" lvl="0" marL="45720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SzPts val="2200"/>
              <a:buFont typeface="Arial"/>
              <a:buChar char="●"/>
            </a:pPr>
            <a:r>
              <a:rPr lang="en"/>
              <a:t>Kết quả định lượng: vượt InstructPix2Pix [1] trên ít nhất 3/5 chỉ số (số baseline lấy từ MagicBrush [8] Table 1)</a:t>
            </a:r>
            <a:endParaRPr/>
          </a:p>
          <a:p>
            <a:pPr indent="-368300" lvl="0" marL="45720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SzPts val="2200"/>
              <a:buFont typeface="Arial"/>
              <a:buChar char="●"/>
            </a:pPr>
            <a:r>
              <a:rPr lang="en"/>
              <a:t>Báo cáo phân tích kết quả: so sánh từng chỉ số theo từng loại hướng dẫn + phân tích 50 mẫu kết quả kém nhất + đề xuất cải tiến cho giai đoạn tiếp theo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5"/>
          <p:cNvSpPr txBox="1"/>
          <p:nvPr>
            <p:ph type="title"/>
          </p:nvPr>
        </p:nvSpPr>
        <p:spPr>
          <a:xfrm>
            <a:off x="471900" y="57875"/>
            <a:ext cx="8222100" cy="67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en"/>
              <a:t>Tài liệu tham khảo</a:t>
            </a:r>
            <a:endParaRPr/>
          </a:p>
        </p:txBody>
      </p:sp>
      <p:sp>
        <p:nvSpPr>
          <p:cNvPr id="274" name="Google Shape;274;p35"/>
          <p:cNvSpPr txBox="1"/>
          <p:nvPr>
            <p:ph idx="1" type="body"/>
          </p:nvPr>
        </p:nvSpPr>
        <p:spPr>
          <a:xfrm>
            <a:off x="471900" y="820500"/>
            <a:ext cx="8222100" cy="39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74650" lvl="0" marL="457200" rtl="0" algn="l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[1] Tim Brooks, A. Holynski, A. Efros: InstructPix2Pix. CVPR 2023: 18392-18402</a:t>
            </a:r>
            <a:endParaRPr sz="1600"/>
          </a:p>
          <a:p>
            <a:pPr indent="-374650" lvl="0" marL="457200" rtl="0" algn="l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[2] A. Kirillov et al.: Segment Anything. ICCV 2023: 3992-4003</a:t>
            </a:r>
            <a:endParaRPr sz="1600"/>
          </a:p>
          <a:p>
            <a:pPr indent="-374650" lvl="0" marL="457200" rtl="0" algn="l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[3] S. Liu et al.: Grounding DINO. ECCV 2024: 38-55</a:t>
            </a:r>
            <a:endParaRPr sz="1600"/>
          </a:p>
          <a:p>
            <a:pPr indent="-374650" lvl="0" marL="457200" rtl="0" algn="l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[4] R. Rombach et al.: High-Resolution Image Synthesis with LDM. CVPR 2022: 10674-10685</a:t>
            </a:r>
            <a:endParaRPr sz="1600"/>
          </a:p>
          <a:p>
            <a:pPr indent="-374650" lvl="0" marL="457200" rtl="0" algn="l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[5] J. Zhuang et al.: A Task Is Worth One Word (PowerPaint). ECCV 2024: 195-211</a:t>
            </a:r>
            <a:endParaRPr sz="1600"/>
          </a:p>
          <a:p>
            <a:pPr indent="-374650" lvl="0" marL="457200" rtl="0" algn="l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[6] A. Radford et al.: CLIP — Learning Transferable Visual Models. ICML 2021: 8748-8763</a:t>
            </a:r>
            <a:endParaRPr sz="1600"/>
          </a:p>
          <a:p>
            <a:pPr indent="-374650" lvl="0" marL="457200" rtl="0" algn="l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[7] T. B. Brown et al.: Language Models are Few-Shot Learners (GPT-3). NeurIPS 2020: 1877-1901</a:t>
            </a:r>
            <a:endParaRPr sz="1600"/>
          </a:p>
          <a:p>
            <a:pPr indent="-374650" lvl="0" marL="457200" rtl="0" algn="l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[8] Kai Zhang, Lingbo Mo, Wenhu Chen, Huan Sun, Yu Su: MagicBrush: A Manually Annotated Dataset for Instruction-Guided Image Editing. NeurIPS 2023</a:t>
            </a:r>
            <a:endParaRPr sz="16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aterial - R01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4FC3F7"/>
      </a:accent5>
      <a:accent6>
        <a:srgbClr val="F4B400"/>
      </a:accent6>
      <a:hlink>
        <a:srgbClr val="4FC3F7"/>
      </a:hlink>
      <a:folHlink>
        <a:srgbClr val="4FC3F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Material - R01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4FC3F7"/>
      </a:accent5>
      <a:accent6>
        <a:srgbClr val="F4B400"/>
      </a:accent6>
      <a:hlink>
        <a:srgbClr val="4FC3F7"/>
      </a:hlink>
      <a:folHlink>
        <a:srgbClr val="4FC3F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